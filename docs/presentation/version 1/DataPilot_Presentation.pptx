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206240"/>
            <a:ext cx="4114800" cy="4114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3317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DATAPILOT AGENT 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Governed, Local-First AI Data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Workspace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walkthrough, architecture, live demo, and open Q&amp;A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presenters  ·  45 minutes  ·  DataPilot Agent OS project team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Minutes,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0:00 – 0:30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880360" y="190195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speakers, 5 min each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90195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value → Architecture → Core workflows → Agents &amp; governance → Integrations &amp; analytics → Status &amp; roadmap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0:30 – 0:35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34107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09360" y="341071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walkthrough: upload → catalog → SQL → agent run → approval → quality/pipeline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919472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0:35 – 0:45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80360" y="491947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919472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questions routed to the presenter who owns that topic area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minute-by-minute script: see “Run of Show &amp; Speaker Script.docx”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TALKING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Speakers, Six Slices of the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  ·  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Problem, Value &amp; Personas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DataPilot exists, who it serves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5780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  ·  5 MIN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Deep Dive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17720" y="3063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data stores, how it's wired together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98280" y="1938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  ·  5 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58200" y="2560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58200" y="306324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catalog → grounded SQL analysis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732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  ·  5 MIN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7724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&amp; Governance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77240" y="5532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orchestration, approvals, PII, RBAC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0" y="4160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5780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5  ·  5 MIN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1772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 &amp; Analytics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617720" y="5532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query gateway, MCP, models, Superset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4160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58200" y="438912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4389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098280" y="44074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6  ·  5 MIN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5820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Roadmap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8458200" y="55321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done, what's partial, what's next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the Value, the People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governed AI data workspace, and who it's built for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Problems DataPilot Was Built to Close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67335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don't know the right tables, metrics, or SQL dialect.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920240"/>
            <a:ext cx="128016" cy="128016"/>
          </a:xfrm>
          <a:prstGeom prst="ellipse">
            <a:avLst/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67335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semantic metrics + hybrid search ground every answer.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8036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3347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rebuild the same ingestion/transform work repeatedly.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2880360"/>
            <a:ext cx="128016" cy="128016"/>
          </a:xfrm>
          <a:prstGeom prst="ellipse">
            <a:avLst/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63347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file mapping, quality rules, pipelines, lineage, schedules.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59359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 can be unsafe or unauditable.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840480"/>
            <a:ext cx="128016" cy="128016"/>
          </a:xfrm>
          <a:prstGeom prst="ellipse">
            <a:avLst/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59359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SQL, typed tools, risk levels, approvals, immutable versions.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0060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55371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clients need data but not raw credentials.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4800600"/>
            <a:ext cx="128016" cy="128016"/>
          </a:xfrm>
          <a:prstGeom prst="ellipse">
            <a:avLst/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455371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Published, scoped query tools over REST / OpenAPI / MCP.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760720"/>
            <a:ext cx="128016" cy="12801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513832"/>
            <a:ext cx="5074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Long-running work disappears in a chat thread.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5760720"/>
            <a:ext cx="128016" cy="128016"/>
          </a:xfrm>
          <a:prstGeom prst="ellipse">
            <a:avLst/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551383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jobs retain plan, evidence, retries, and incidents.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Personas, One Control Plane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answers, SQL preview, charts, reports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catalog-grounded and read-only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25496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0088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90088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90088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files, mappings, pipelines, lineage, schedules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90088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90088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&amp; recurring runs need approval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02352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66944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66944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66944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isolation, roles, model/connector config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66944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66944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reach the browser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79208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Reviewer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43800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43800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queue, versions, audit, job evidence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543800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543800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vendors never become the approver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656064" y="1691640"/>
            <a:ext cx="2148840" cy="434340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20656" y="1920240"/>
            <a:ext cx="1819656" cy="4572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20656" y="1920240"/>
            <a:ext cx="18196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Developer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820656" y="260604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820656" y="288036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Typed, searchable, least-privilege query tools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820656" y="4343400"/>
            <a:ext cx="1819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820656" y="4617720"/>
            <a:ext cx="1819656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SQL, identifiers, or credentials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Deep Dive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running under the workspace, and how the pieces talk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Diagram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7744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(Next.js web app)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46120" y="1600200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60020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clients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Google ADK / MCP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463040" y="2651760"/>
            <a:ext cx="5760720" cy="777240"/>
          </a:xfrm>
          <a:prstGeom prst="roundRect">
            <a:avLst>
              <a:gd name="adj" fmla="val 8235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6517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OpenAPI · MCP Gateway  →  FastAPI Control Plane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490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+ staged data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88920" y="374904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37490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index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0" y="374904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7490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+ worker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execution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9480" y="3749040"/>
            <a:ext cx="2057400" cy="868680"/>
          </a:xfrm>
          <a:prstGeom prst="roundRect">
            <a:avLst>
              <a:gd name="adj" fmla="val 7368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37490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cross-request state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9377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runtime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/ Gemini / OpenAI-compatible / Claude / company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434840" y="49377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49377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runtime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PostgreSQL, approved external sources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321040" y="49377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49377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runtime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 + allowlisted HTTP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Apache Superset (embedded)  ·  Governance telemetry → AgentGuard / OTLP / signed webhook (fail-open, sanitized)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Component Has an Explicit Boundary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 web app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337560" y="1645920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workspace UI for every workflow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0" y="1645920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receives connector/provider secrets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542032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33472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control plane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7560" y="2633472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AuthN/Z, project scope, policy, SQL safety, orchestration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0" y="2633472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is authoritative; the API enforces policy, not the 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21024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37560" y="3621024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catalog, staged data, jobs, approvals, audit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0" y="3621024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— Qdrant is fully rebuildable from 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517136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08576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+ worker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37560" y="4608576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execution outside the HTTP request lifecycle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0" y="4608576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stays the product-facing record; workflow ID just links to it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504688"/>
            <a:ext cx="11064240" cy="877824"/>
          </a:xfrm>
          <a:prstGeom prst="roundRect">
            <a:avLst>
              <a:gd name="adj" fmla="val 7292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96128"/>
            <a:ext cx="24688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 / Tool runtime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337560" y="5596128"/>
            <a:ext cx="4023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scans, parameterized queries, typed tool calls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98080" y="5596128"/>
            <a:ext cx="39776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arbitrary SQL, no arbitrary outbound hosts, no raw code exec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Workflows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raw file to a governed answer, step by step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DATA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→ Quality →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/ JSON / Excel / Parquet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04288" y="2834640"/>
            <a:ext cx="118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251460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edit source-to-target mapping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78808" y="2834640"/>
            <a:ext cx="118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34840" y="251460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in PostgreSQL (versioned replace / append / key-merge)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53328" y="2834640"/>
            <a:ext cx="118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quality rules → quarantine failures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27848" y="2834640"/>
            <a:ext cx="118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8388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183880" y="251460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pipeline → approve → deploy view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802368" y="2834640"/>
            <a:ext cx="118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921240" y="1828800"/>
            <a:ext cx="1755648" cy="2468880"/>
          </a:xfrm>
          <a:prstGeom prst="roundRect">
            <a:avLst>
              <a:gd name="adj" fmla="val 4167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058400" y="2514600"/>
            <a:ext cx="148132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schedule advances a watermark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deployments and recurring schedules stop and wait for an explicit approval before Temporal executes them.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· ANALYST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Grounded Analytical Question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0" cy="201168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6733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91840" y="167335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asks a question in a project/source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807208"/>
            <a:ext cx="0" cy="201168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331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Qdrant supply grounding context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008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465576"/>
            <a:ext cx="0" cy="201168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29900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299008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 dialect-aware SQL + narrative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66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4123944"/>
            <a:ext cx="0" cy="201168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64845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291840" y="3648456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SELECT/WITH only, limits, safety checks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3251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25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" y="4782312"/>
            <a:ext cx="0" cy="201168"/>
          </a:xfrm>
          <a:prstGeom prst="line">
            <a:avLst/>
          </a:prstGeom>
          <a:noFill/>
          <a:ln w="19050">
            <a:solidFill>
              <a:srgbClr val="C7C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25880" y="430682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291840" y="4306824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read-only PostgreSQL execution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25880" y="49651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291840" y="4965192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Conversation, provenance, and audit saved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2588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call fails or output is invalid, a repair pass or deterministic catalog fallback keeps the answer available.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&amp; Governance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autonomy — with approvals, audit, and masking built in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MULTI-AGENT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With a Leash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943600" cy="4617720"/>
          </a:xfrm>
          <a:prstGeom prst="roundRect">
            <a:avLst>
              <a:gd name="adj" fmla="val 1584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8366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0078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starts a Temporal workflow, not a raw model loop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72491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54203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loads approved catalog / semantic context first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3832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 a bounded 3–6 step plan (deterministic fallback if unavailable)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40740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22452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12 tool calls — low-risk, registry-bound, typed inputs only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248656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065776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plan, output, log, and model call is persisted as evidence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1600200"/>
            <a:ext cx="4892040" cy="4617720"/>
          </a:xfrm>
          <a:prstGeom prst="roundRect">
            <a:avLst>
              <a:gd name="adj" fmla="val 1584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9516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WILL NOT DO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99516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6092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unrestricted / high-risk tools without approval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95160" y="294436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60920" y="2944368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pipelines or schedules unattended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95160" y="360273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60920" y="3602736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arbitrary code or call arbitrary hosts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95160" y="426110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60920" y="4261104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a learning-suggestion to runtime behavior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95160" y="491947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60920" y="491947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audit trail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CONTROLS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Approvals, Evidence, PII, and Access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7452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31181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jobs stop and wait; a human decision is recorded before Temporal resumes execution.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87452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 &amp; versions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90288" y="2377440"/>
            <a:ext cx="31181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SQL, pipeline, or notebook is a versioned artifact with diffs, comments, and reviews.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30768" y="187452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detection &amp; masking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30768" y="2377440"/>
            <a:ext cx="31181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Pattern/heuristic classification tags sensitive columns and partially masks results across SQL, connector, MCP, and notebook paths.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434340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&amp; security posture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4846320"/>
            <a:ext cx="31181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security-relevant action is an audit event; a live dashboard scores prompt-injection, PII, and toxic-content incidents.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0" y="4160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434340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90288" y="4846320"/>
            <a:ext cx="31181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Permission-map enforcement now spans 9 router files / 32 call sites — real, but not yet complete everywhere (see status section).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5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Integrations &amp; Analytics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data and tools safely in front of other systems and models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Query-Tool Gateway, Not a Database Login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04288" y="19659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32304" y="169164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2304" y="169164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87952" y="19659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69164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71616" y="19659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9632" y="169164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69164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55280" y="19659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83296" y="169164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3296" y="169164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Invoke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838944" y="196596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66960" y="1691640"/>
            <a:ext cx="1755648" cy="1005840"/>
          </a:xfrm>
          <a:prstGeom prst="roundRect">
            <a:avLst>
              <a:gd name="adj" fmla="val 7273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66960" y="1691640"/>
            <a:ext cx="17556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4360" y="3182112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01752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supply typed parameter values only — SQL and identifiers stay server-owned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3840480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675888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over REST / OpenAPI and MCP (tools/list, tools/call) to VS Code, Google ADK, and other MCP clients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4498848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334256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rate limiting protects the shared invoke path (default 60 req/min/client, fails open if Redis is unreachable)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" y="5157216"/>
            <a:ext cx="109728" cy="1097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992624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run through a native driver or an upstream MCP server — metadata scan works either way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Provider Choice, Embedded BI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PROVIDERS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deterministic (works offline)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99923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999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3.6 / 3.5 Flash — validated, default for SQL &amp; planning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210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24281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2428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86460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864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/ internal provider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records provenance, cost, and latency. Secrets are env/mounted references only — never stored in the database.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45352" y="169164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9672" y="19202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9672" y="23774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93992" y="2377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Superset embeds directly inside DataPilot — optional analytics profile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19672" y="3154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93992" y="31546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Short-lived, dashboard-scoped guest tokens; no second login for normal users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19672" y="39319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93992" y="39319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“Open editor” performs a short-lived handoff into standalone Superset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19672" y="47091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93992" y="47091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creates the core.accounts dataset, charts, dashboard, and allowed embed domains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41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6 · 5 MIN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3154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Roadmap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honest, code-verified account of what's done and what's left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Reconciled Directly Against the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docs/IMPLEMENTATION_STATUS_MATRIX.md — last reconciled August 8, 2026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29968"/>
            <a:ext cx="777240" cy="73152"/>
          </a:xfrm>
          <a:prstGeom prst="roundRect">
            <a:avLst>
              <a:gd name="adj" fmla="val 50000"/>
            </a:avLst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21408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49808" y="27432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310896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25 domain routers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029968"/>
            <a:ext cx="777240" cy="73152"/>
          </a:xfrm>
          <a:prstGeom prst="roundRect">
            <a:avLst>
              <a:gd name="adj" fmla="val 50000"/>
            </a:avLst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2121408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/ 56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90288" y="27432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 passing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90288" y="310896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skipped, independently re-run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2029968"/>
            <a:ext cx="777240" cy="73152"/>
          </a:xfrm>
          <a:prstGeom prst="roundRect">
            <a:avLst>
              <a:gd name="adj" fmla="val 50000"/>
            </a:avLst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0768" y="2121408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30768" y="27432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— done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30768" y="310896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SQL → agents → quality → pipelines → notebooks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70248"/>
            <a:ext cx="777240" cy="73152"/>
          </a:xfrm>
          <a:prstGeom prst="roundRect">
            <a:avLst>
              <a:gd name="adj" fmla="val 50000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361688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49808" y="49834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— partial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" y="534924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coverage, prod hardening, live cert., scale, coverage, registry UX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4270248"/>
            <a:ext cx="777240" cy="73152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0288" y="4361688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4590288" y="49834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 — not started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90288" y="534924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SSO/PingFederate end-to-end, formal security review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406908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200" y="4270248"/>
            <a:ext cx="777240" cy="73152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30768" y="4361688"/>
            <a:ext cx="31181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430768" y="49834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/ screenshots on disk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430768" y="5349240"/>
            <a:ext cx="311810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this is what today's session needs to close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Done · Partial · Not Started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1FAA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roles, projects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777240" y="2675036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ingest + staging + versioning</a:t>
            </a:r>
            <a:endParaRPr lang="en-US" sz="930" dirty="0"/>
          </a:p>
        </p:txBody>
      </p:sp>
      <p:sp>
        <p:nvSpPr>
          <p:cNvPr id="9" name="Text 7"/>
          <p:cNvSpPr/>
          <p:nvPr/>
        </p:nvSpPr>
        <p:spPr>
          <a:xfrm>
            <a:off x="777240" y="3018351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hybrid search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777240" y="3361667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SQL generation &amp; preview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777240" y="3704983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detection &amp; masking</a:t>
            </a:r>
            <a:endParaRPr lang="en-US" sz="930" dirty="0"/>
          </a:p>
        </p:txBody>
      </p:sp>
      <p:sp>
        <p:nvSpPr>
          <p:cNvPr id="12" name="Text 10"/>
          <p:cNvSpPr/>
          <p:nvPr/>
        </p:nvSpPr>
        <p:spPr>
          <a:xfrm>
            <a:off x="777240" y="4048298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(bounded)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77240" y="4391614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artifacts, audit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777240" y="4734929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rules &amp; quarantine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777240" y="5078245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query-tool gateway + MCP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777240" y="5421561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lineage traversal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77240" y="5764876"/>
            <a:ext cx="3108960" cy="3433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 (pytest + tsc + build)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297680" y="160020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80560" y="178308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26280" y="2331720"/>
            <a:ext cx="3108960" cy="629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 Server / Oracle / Teradata / BigQuery certification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4526280" y="2961132"/>
            <a:ext cx="3108960" cy="629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RBAC (real, not everywhere yet)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4526280" y="3590544"/>
            <a:ext cx="3108960" cy="629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(no NetworkPolicy / DR drill yet)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4526280" y="4219956"/>
            <a:ext cx="3108960" cy="629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breadth (170 endpoints, 1 test file)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4526280" y="4849368"/>
            <a:ext cx="3108960" cy="629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marketplace UX (no filter/search yet)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4526280" y="5478780"/>
            <a:ext cx="3108960" cy="6294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dbt/Dataform emission (not yet run against real CLI)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8046720" y="1600200"/>
            <a:ext cx="3566160" cy="4709160"/>
          </a:xfrm>
          <a:prstGeom prst="roundRect">
            <a:avLst>
              <a:gd name="adj" fmla="val 2051"/>
            </a:avLst>
          </a:prstGeom>
          <a:solidFill>
            <a:srgbClr val="F4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1783080"/>
            <a:ext cx="3200400" cy="411480"/>
          </a:xfrm>
          <a:prstGeom prst="roundRect">
            <a:avLst>
              <a:gd name="adj" fmla="val 13333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783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75320" y="2331720"/>
            <a:ext cx="3108960" cy="944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PingFederate / SSO end-to-end login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8275320" y="3275838"/>
            <a:ext cx="3108960" cy="944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security review / pen test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8275320" y="4219956"/>
            <a:ext cx="3108960" cy="944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recording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8275320" y="5164074"/>
            <a:ext cx="3108960" cy="944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capture for docs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Closing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777240"/>
          </a:xfrm>
          <a:prstGeom prst="roundRect">
            <a:avLst>
              <a:gd name="adj" fmla="val 10909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 · Demo readiness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673352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real demo video, confirm screenshots on disk, run one live scan end-to-end (direct + MCP)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" cy="777240"/>
          </a:xfrm>
          <a:prstGeom prst="roundRect">
            <a:avLst>
              <a:gd name="adj" fmla="val 10909"/>
            </a:avLst>
          </a:prstGeom>
          <a:solidFill>
            <a:srgbClr val="D645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060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58775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P0 · Enterprise credibility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2587752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completion, live connector certification beyond SQL Server Express, a real security review, NetworkPolicy, backup/restore drill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02920" cy="777240"/>
          </a:xfrm>
          <a:prstGeom prst="roundRect">
            <a:avLst>
              <a:gd name="adj" fmla="val 10909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520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50215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· Correctness &amp; trust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3502152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remaining inline role checks to require_permission(); fix it to consult project-membership role, not just global role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02920" cy="777240"/>
          </a:xfrm>
          <a:prstGeom prst="roundRect">
            <a:avLst>
              <a:gd name="adj" fmla="val 10909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348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41655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· Scale readiness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4416552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Postgres connection-pool math before raising HPA maxReplicas; add NetworkPolicy; consider queue-depth autoscaling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502920" cy="777240"/>
          </a:xfrm>
          <a:prstGeom prst="roundRect">
            <a:avLst>
              <a:gd name="adj" fmla="val 10909"/>
            </a:avLst>
          </a:prstGeom>
          <a:solidFill>
            <a:srgbClr val="E097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492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533095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· Usability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77640" y="5330952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Filter/search controls on the query-tool gateway list — the last piece of registry marketplace polish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828800"/>
            <a:ext cx="6400800" cy="64008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5 MIN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8346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 Walkthrough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 →  Catalog &amp; search  →  Ask a question (SQL preview)  →  Agent run  →  Approval  →  Quality /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click-by-click steps: “Demo Storyboard.docx”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Q&amp;A · 10 MIN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Us Anything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value, personas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766560" y="230428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9077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components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766560" y="292608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29260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529584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SQL, workflows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766560" y="3547872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5478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415137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approvals, PII, RBAC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766560" y="4169664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16966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4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773168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Gateway, MCP, models, Superset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766560" y="4791456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47914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53949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gaps, roadmap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766560" y="54132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54132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anticipated Q&amp;A with prepared answers: “Anticipated Q&amp;A.docx”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31089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DataPilot Agent OS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AI for real data engineering work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DataPilot Agent 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DataPilot Agent OS Team</dc:creator>
  <cp:lastModifiedBy>DataPilot Agent OS Team</cp:lastModifiedBy>
  <cp:revision>1</cp:revision>
  <dcterms:created xsi:type="dcterms:W3CDTF">2026-08-09T02:26:26Z</dcterms:created>
  <dcterms:modified xsi:type="dcterms:W3CDTF">2026-08-09T02:26:26Z</dcterms:modified>
</cp:coreProperties>
</file>