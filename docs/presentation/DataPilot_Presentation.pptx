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4206240"/>
            <a:ext cx="4114800" cy="41148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03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Architecture Review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sequence flows, and enterprise-grade design — for architects and principal engineers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presenters  ·  45 minutes  ·  live demo  ·  open technical Q&amp;A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OF SHOW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Minutes,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01952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0:00 – 0:30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880360" y="190195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speakers, 5 min each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09360" y="1901952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→ Architecture → Workflows → Agents &amp; governance → Integrations → Enterprise-grade design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10712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0:30 – 0:35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341071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3410712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walkthrough of the flows shown in the sequence diagrams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919472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0:35 – 0:45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880360" y="491947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Q&amp;A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4919472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floor — questions routed to the presenter who owns that architecture area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TALKING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Speakers, Six Architecture Views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385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1  ·  5 MIN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Case &amp; Positioning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the personas, what this deliberately is not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9202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57800" y="19385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2  ·  5 MIN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2560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Architecture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17720" y="30632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diagram, component boundaries, technology decisions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16916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0" y="19202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98280" y="19385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3  ·  5 MIN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458200" y="2560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Workflows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458200" y="30632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diagrams — data engineer and analyst journeys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3891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417320" y="4407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4  ·  5 MIN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77240" y="5029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&amp; Governance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77240" y="55321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orchestration, agent roles, enforcement architecture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9120" y="416052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43891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257800" y="4407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5  ·  5 MIN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17720" y="5029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Architecture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4617720" y="55321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gateway, MCP, model providers, resilience patterns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0" y="416052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58200" y="43891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5820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098280" y="4407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6  ·  5 MIN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458200" y="5029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Enterprise-Grade Design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8458200" y="55321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topology, security, scalability, reliability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141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2801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1 · 5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Case &amp; Positioning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exists, who it serves, and what it deliberately does not do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Problems, Five Governed Responses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128016" cy="128016"/>
          </a:xfrm>
          <a:prstGeom prst="ellipse">
            <a:avLst/>
          </a:prstGeom>
          <a:solidFill>
            <a:srgbClr val="E097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673352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don't know the right tables, metrics, or SQL dialect.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1920240"/>
            <a:ext cx="128016" cy="1280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673352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+ semantic metrics + hybrid search ground every answer.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80360"/>
            <a:ext cx="128016" cy="128016"/>
          </a:xfrm>
          <a:prstGeom prst="ellipse">
            <a:avLst/>
          </a:prstGeom>
          <a:solidFill>
            <a:srgbClr val="E097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33472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rebuild the same ingestion/transform work repeatedly.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2880360"/>
            <a:ext cx="128016" cy="1280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2633472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file mapping, quality rules, pipelines, lineage, schedules.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40480"/>
            <a:ext cx="128016" cy="128016"/>
          </a:xfrm>
          <a:prstGeom prst="ellipse">
            <a:avLst/>
          </a:prstGeom>
          <a:solidFill>
            <a:srgbClr val="E097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593592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 can be unsafe or unauditable.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3840480"/>
            <a:ext cx="128016" cy="1280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3593592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SQL, typed tools, risk levels, approvals, immutable versions.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800600"/>
            <a:ext cx="128016" cy="128016"/>
          </a:xfrm>
          <a:prstGeom prst="ellipse">
            <a:avLst/>
          </a:prstGeom>
          <a:solidFill>
            <a:srgbClr val="E097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553712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AI clients need data but not raw credentials.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55080" y="4800600"/>
            <a:ext cx="128016" cy="1280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4553712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Published, scoped query tools over REST / OpenAPI / MCP.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760720"/>
            <a:ext cx="128016" cy="128016"/>
          </a:xfrm>
          <a:prstGeom prst="ellipse">
            <a:avLst/>
          </a:prstGeom>
          <a:solidFill>
            <a:srgbClr val="E097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5513832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work disappears in a chat thread.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55080" y="5760720"/>
            <a:ext cx="128016" cy="1280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5513832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jobs retain plan, evidence, retries, and incidents.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Personas, One Control Plane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48840" cy="434340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20240"/>
            <a:ext cx="1819656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2024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260604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13232" y="2880360"/>
            <a:ext cx="18196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answers, SQL preview, charts, reports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434340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3232" y="4617720"/>
            <a:ext cx="18196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catalog-grounded and read-only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25496" y="1691640"/>
            <a:ext cx="2148840" cy="434340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0088" y="1920240"/>
            <a:ext cx="1819656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0088" y="192024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90088" y="260604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90088" y="2880360"/>
            <a:ext cx="18196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Profiled files, mappings, pipelines, lineage, schedules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90088" y="434340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90088" y="4617720"/>
            <a:ext cx="18196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 &amp; recurring runs need approval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02352" y="1691640"/>
            <a:ext cx="2148840" cy="434340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66944" y="1920240"/>
            <a:ext cx="1819656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66944" y="192024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66944" y="260604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66944" y="2880360"/>
            <a:ext cx="18196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isolation, roles, model/connector config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66944" y="434340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66944" y="4617720"/>
            <a:ext cx="18196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never reach the browser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79208" y="1691640"/>
            <a:ext cx="2148840" cy="434340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43800" y="1920240"/>
            <a:ext cx="1819656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0" y="192024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Reviewer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43800" y="260604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543800" y="2880360"/>
            <a:ext cx="18196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queue, versions, audit, job evidence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543800" y="434340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543800" y="4617720"/>
            <a:ext cx="18196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vendors never become the approver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656064" y="1691640"/>
            <a:ext cx="2148840" cy="434340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20656" y="1920240"/>
            <a:ext cx="1819656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20656" y="192024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AI Developer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820656" y="260604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820656" y="2880360"/>
            <a:ext cx="18196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searchable, least-privilege query tools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820656" y="434340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820656" y="4617720"/>
            <a:ext cx="18196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SQL, identifiers, or credentials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Scoped, Not Accidentally Limited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617720"/>
          </a:xfrm>
          <a:prstGeom prst="roundRect">
            <a:avLst>
              <a:gd name="adj" fmla="val 1584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control plane for models, tools, approvals, artifacts, and execution history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Enterprise database + file context, unified under one catalog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Bounded multi-agent operation with durable evidence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discoverable, governed surface for external AI clients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5352" y="1600200"/>
            <a:ext cx="5394960" cy="4617720"/>
          </a:xfrm>
          <a:prstGeom prst="roundRect">
            <a:avLst>
              <a:gd name="adj" fmla="val 1584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DELIBERATELY IS NOT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19672" y="22860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 a cloud data warehouse replacement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19672" y="29718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 an unrestricted coding agent — no arbitrary code execution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19672" y="36576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 a BI platform — Superset stays the analytics surface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19672" y="43434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 autonomous — every improvement requires a human click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141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2801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2 · 5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Architecture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design, component boundaries, and the technology decisions behind them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Solution Architecture</a:t>
            </a:r>
            <a:endParaRPr lang="en-US" sz="2500" dirty="0"/>
          </a:p>
        </p:txBody>
      </p:sp>
      <p:pic>
        <p:nvPicPr>
          <p:cNvPr id="4" name="Image 0" descr="d_solution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6948" y="1371600"/>
            <a:ext cx="6864199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9048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arrow crosses a policy boundary — authenticate, scope, validate, then (if risky) wait for a human approval before executing.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Component Has an Explicit Boundary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877824"/>
          </a:xfrm>
          <a:prstGeom prst="roundRect">
            <a:avLst>
              <a:gd name="adj" fmla="val 7292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web app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337560" y="1645920"/>
            <a:ext cx="4023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workspace UI for every workflow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498080" y="1645920"/>
            <a:ext cx="3977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receives connector/provider secrets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64240" cy="877824"/>
          </a:xfrm>
          <a:prstGeom prst="roundRect">
            <a:avLst>
              <a:gd name="adj" fmla="val 7292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33472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control plane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37560" y="2633472"/>
            <a:ext cx="4023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AuthN/Z, project scope, policy, SQL safety, orchestration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98080" y="2633472"/>
            <a:ext cx="3977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is authoritative; the API enforces policy, not the UI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11064240" cy="877824"/>
          </a:xfrm>
          <a:prstGeom prst="roundRect">
            <a:avLst>
              <a:gd name="adj" fmla="val 7292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621024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37560" y="3621024"/>
            <a:ext cx="4023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catalog, staged data, jobs, approvals, audit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98080" y="3621024"/>
            <a:ext cx="3977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 — Qdrant is fully rebuildable from it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517136"/>
            <a:ext cx="11064240" cy="877824"/>
          </a:xfrm>
          <a:prstGeom prst="roundRect">
            <a:avLst>
              <a:gd name="adj" fmla="val 7292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608576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+ worker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337560" y="4608576"/>
            <a:ext cx="4023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execution outside the HTTP request lifecycle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98080" y="4608576"/>
            <a:ext cx="3977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stays the product-facing record; workflow ID just links to it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504688"/>
            <a:ext cx="11064240" cy="877824"/>
          </a:xfrm>
          <a:prstGeom prst="roundRect">
            <a:avLst>
              <a:gd name="adj" fmla="val 7292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596128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Connector / Tool runtime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337560" y="5596128"/>
            <a:ext cx="4023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scans, parameterized queries, typed tool calls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498080" y="5596128"/>
            <a:ext cx="3977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arbitrary SQL, no arbitrary outbound hosts, no raw code exec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DECISION RECORD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Chosen Deliberately, Documented Honestly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8288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508760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1508760"/>
            <a:ext cx="21031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2450592" y="150876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508760"/>
            <a:ext cx="374904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53712" y="1508760"/>
            <a:ext cx="3602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0" y="1508760"/>
            <a:ext cx="32004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302752" y="150876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considered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874520"/>
            <a:ext cx="1828800" cy="8961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1911096"/>
            <a:ext cx="16824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&amp; join storage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77440" y="1874520"/>
            <a:ext cx="2103120" cy="8961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1911096"/>
            <a:ext cx="19568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edge-list + recursive CTEs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80560" y="1874520"/>
            <a:ext cx="3749040" cy="8961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53712" y="1911096"/>
            <a:ext cx="36027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queries are 0–1 hop; a second store would duplicate the source of truth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29600" y="1874520"/>
            <a:ext cx="3200400" cy="8961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302752" y="1911096"/>
            <a:ext cx="30540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/ graph DB — revisit if interactive multi-hop traversal becomes real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770632"/>
            <a:ext cx="1828800" cy="89611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2807208"/>
            <a:ext cx="16824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execution engine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377440" y="2770632"/>
            <a:ext cx="2103120" cy="89611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2450592" y="2807208"/>
            <a:ext cx="19568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2770632"/>
            <a:ext cx="3749040" cy="89611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4553712" y="2807208"/>
            <a:ext cx="36027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Retries, history, visibility built in — the right fit for bounded agent plans &amp; scheduled ingestion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229600" y="2770632"/>
            <a:ext cx="3200400" cy="89611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7" name="Text 25"/>
          <p:cNvSpPr/>
          <p:nvPr/>
        </p:nvSpPr>
        <p:spPr>
          <a:xfrm>
            <a:off x="8302752" y="2807208"/>
            <a:ext cx="30540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custom consumers — a log isn't a workflow engine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3666744"/>
            <a:ext cx="1828800" cy="8961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" y="3703320"/>
            <a:ext cx="16824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Cross-request state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377440" y="3666744"/>
            <a:ext cx="2103120" cy="8961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2450592" y="3703320"/>
            <a:ext cx="19568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480560" y="3666744"/>
            <a:ext cx="3749040" cy="8961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553712" y="3703320"/>
            <a:ext cx="36027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provisioned; now backs rate limiting; a good fit for caching/session revocation next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229600" y="3666744"/>
            <a:ext cx="3200400" cy="8961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8302752" y="3703320"/>
            <a:ext cx="30540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broker — not justified by any current fan-out need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4562856"/>
            <a:ext cx="1828800" cy="89611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" y="4599432"/>
            <a:ext cx="16824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retrieval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377440" y="4562856"/>
            <a:ext cx="2103120" cy="89611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9" name="Text 37"/>
          <p:cNvSpPr/>
          <p:nvPr/>
        </p:nvSpPr>
        <p:spPr>
          <a:xfrm>
            <a:off x="2450592" y="4599432"/>
            <a:ext cx="19568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Qdrant, derived from PostgreSQL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480560" y="4562856"/>
            <a:ext cx="3749040" cy="89611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41" name="Text 39"/>
          <p:cNvSpPr/>
          <p:nvPr/>
        </p:nvSpPr>
        <p:spPr>
          <a:xfrm>
            <a:off x="4553712" y="4599432"/>
            <a:ext cx="36027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has no relational equivalent; fully rebuildable, holds no credentials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229600" y="4562856"/>
            <a:ext cx="3200400" cy="896112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43" name="Text 41"/>
          <p:cNvSpPr/>
          <p:nvPr/>
        </p:nvSpPr>
        <p:spPr>
          <a:xfrm>
            <a:off x="8302752" y="4599432"/>
            <a:ext cx="30540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vectors in PostgreSQL — revisit only at very large scale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8640" y="5458968"/>
            <a:ext cx="1828800" cy="8961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21792" y="5495544"/>
            <a:ext cx="16824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connection ceiling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377440" y="5458968"/>
            <a:ext cx="2103120" cy="8961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2450592" y="5495544"/>
            <a:ext cx="19568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Per-connector BoundedSemaphore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480560" y="5458968"/>
            <a:ext cx="3749040" cy="8961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4553712" y="5495544"/>
            <a:ext cx="360273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 governed reads, not OLTP — a pool would be the wrong shape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229600" y="5458968"/>
            <a:ext cx="3200400" cy="8961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8302752" y="5495544"/>
            <a:ext cx="30540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connection pooler — pair with it if a source becomes constrained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Model — Everything Is Project-Scoped</a:t>
            </a:r>
            <a:endParaRPr lang="en-US" sz="2500" dirty="0"/>
          </a:p>
        </p:txBody>
      </p:sp>
      <p:pic>
        <p:nvPicPr>
          <p:cNvPr id="4" name="Image 0" descr="d_domain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8580" y="1371600"/>
            <a:ext cx="7940936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9048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foreign key resolves back to PROJECT — no cross-project catalog sharing, agent reuse, or query-tool grant.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141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2801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3 · 5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Workflows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everyday journeys, traced end to end as sequence diagrams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· DATA ENGINEER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→ Quality → Governed Deployment</a:t>
            </a:r>
            <a:endParaRPr lang="en-US" sz="2500" dirty="0"/>
          </a:p>
        </p:txBody>
      </p:sp>
      <p:pic>
        <p:nvPicPr>
          <p:cNvPr id="4" name="Image 0" descr="d_seq_engine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7688" y="1371600"/>
            <a:ext cx="8862720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9048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 block is the load-bearing detail: risky deployments and recurring schedules stop and wait for a recorded human decision.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· DATA ANALYST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Grounded Analytical Question</a:t>
            </a:r>
            <a:endParaRPr lang="en-US" sz="2500" dirty="0"/>
          </a:p>
        </p:txBody>
      </p:sp>
      <p:pic>
        <p:nvPicPr>
          <p:cNvPr id="4" name="Image 0" descr="d_seq_analy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0244" y="1371600"/>
            <a:ext cx="9277608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9048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alt block is the safety net: an invalid or unavailable model still resolves to a repair pass or a deterministic catalog fallback — never a hang.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141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2801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4 · 5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&amp; Governance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orchestration, specialist agent roles, and the enforcement architecture behind them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· AI AGENT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Bounded Multi-Agent Orchestration</a:t>
            </a:r>
            <a:endParaRPr lang="en-US" sz="2500" dirty="0"/>
          </a:p>
        </p:txBody>
      </p:sp>
      <p:pic>
        <p:nvPicPr>
          <p:cNvPr id="4" name="Image 0" descr="d_seq_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2269" y="1371600"/>
            <a:ext cx="9553557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9048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is hard-capped at 12 calls, low-risk built-ins only — every plan, output, and model call is persisted as evidence.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Roles, Each With a Declared Authority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1031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50876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51760" y="1508760"/>
            <a:ext cx="57607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2724912" y="1508760"/>
            <a:ext cx="5614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0" y="1508760"/>
            <a:ext cx="30175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485632" y="1508760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authority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21031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87452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51760" y="1874520"/>
            <a:ext cx="5760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724912" y="1874520"/>
            <a:ext cx="5614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an objective into 3–6 bounded steps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412480" y="1874520"/>
            <a:ext cx="30175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485632" y="1874520"/>
            <a:ext cx="2871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only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423160"/>
            <a:ext cx="2103120" cy="5486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242316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51760" y="2423160"/>
            <a:ext cx="5760720" cy="5486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9" name="Text 17"/>
          <p:cNvSpPr/>
          <p:nvPr/>
        </p:nvSpPr>
        <p:spPr>
          <a:xfrm>
            <a:off x="2724912" y="2423160"/>
            <a:ext cx="5614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catalog assets, documents, metrics, approved joins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12480" y="2423160"/>
            <a:ext cx="3017520" cy="5486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8485632" y="2423160"/>
            <a:ext cx="2871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retrieval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2971800"/>
            <a:ext cx="21031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297180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651760" y="2971800"/>
            <a:ext cx="5760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2724912" y="2971800"/>
            <a:ext cx="5614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Draft, explain, validate, revise dialect-aware read-only SQL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412480" y="2971800"/>
            <a:ext cx="30175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8485632" y="2971800"/>
            <a:ext cx="2871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preview only when permitted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520440"/>
            <a:ext cx="2103120" cy="5486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" y="352044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651760" y="3520440"/>
            <a:ext cx="5760720" cy="5486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1" name="Text 29"/>
          <p:cNvSpPr/>
          <p:nvPr/>
        </p:nvSpPr>
        <p:spPr>
          <a:xfrm>
            <a:off x="2724912" y="3520440"/>
            <a:ext cx="5614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local pipeline/view package and lineage draft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412480" y="3520440"/>
            <a:ext cx="3017520" cy="5486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3" name="Text 31"/>
          <p:cNvSpPr/>
          <p:nvPr/>
        </p:nvSpPr>
        <p:spPr>
          <a:xfrm>
            <a:off x="8485632" y="3520440"/>
            <a:ext cx="2871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requires approval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069080"/>
            <a:ext cx="21031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" y="406908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651760" y="4069080"/>
            <a:ext cx="5760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2724912" y="4069080"/>
            <a:ext cx="5614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data, propose or run governed checks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412480" y="4069080"/>
            <a:ext cx="30175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8485632" y="4069080"/>
            <a:ext cx="2871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requires approval when configured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617720"/>
            <a:ext cx="2103120" cy="5486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41" name="Text 39"/>
          <p:cNvSpPr/>
          <p:nvPr/>
        </p:nvSpPr>
        <p:spPr>
          <a:xfrm>
            <a:off x="621792" y="461772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Troubleshooter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651760" y="4617720"/>
            <a:ext cx="5760720" cy="5486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43" name="Text 41"/>
          <p:cNvSpPr/>
          <p:nvPr/>
        </p:nvSpPr>
        <p:spPr>
          <a:xfrm>
            <a:off x="2724912" y="4617720"/>
            <a:ext cx="5614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job evidence, propose safe retry/remediation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412480" y="4617720"/>
            <a:ext cx="3017520" cy="54864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45" name="Text 43"/>
          <p:cNvSpPr/>
          <p:nvPr/>
        </p:nvSpPr>
        <p:spPr>
          <a:xfrm>
            <a:off x="8485632" y="4617720"/>
            <a:ext cx="2871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perform arbitrary remediation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5166360"/>
            <a:ext cx="21031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621792" y="516636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651760" y="5166360"/>
            <a:ext cx="5760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2724912" y="5166360"/>
            <a:ext cx="56144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project scope, risk, and approval requirements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412480" y="5166360"/>
            <a:ext cx="30175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8485632" y="5166360"/>
            <a:ext cx="2871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limits; not a model-only opinion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Path, Five Checks, Before Anything Executes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783080" cy="210312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57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identity / client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331720" y="288036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496312" y="1920240"/>
            <a:ext cx="1783080" cy="2103120"/>
          </a:xfrm>
          <a:prstGeom prst="roundRect">
            <a:avLst>
              <a:gd name="adj" fmla="val 4103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2057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633472" y="26060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project scope &amp; role/grant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79392" y="288036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43984" y="1920240"/>
            <a:ext cx="1783080" cy="210312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1144" y="2057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81144" y="26060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contract: schema, SQL, relation, limits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27064" y="288036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91656" y="1920240"/>
            <a:ext cx="1783080" cy="2103120"/>
          </a:xfrm>
          <a:prstGeom prst="roundRect">
            <a:avLst>
              <a:gd name="adj" fmla="val 4103"/>
            </a:avLst>
          </a:prstGeom>
          <a:solidFill>
            <a:srgbClr val="E097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8816" y="2057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28816" y="26060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decision — approval if required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74736" y="288036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339328" y="1920240"/>
            <a:ext cx="1783080" cy="210312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76488" y="2057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76488" y="26060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execution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122408" y="288036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287000" y="1920240"/>
            <a:ext cx="1783080" cy="2103120"/>
          </a:xfrm>
          <a:prstGeom prst="roundRect">
            <a:avLst>
              <a:gd name="adj" fmla="val 4103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0" y="2057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424160" y="26060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job / artifact / audit evidence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4343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telemetry (AgentGuard / OTLP / signed webhook) observes this path in sanitized form — it complements local enforcement and is never the system of record for the approval itself.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141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2801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5 · 5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Architecture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other systems, other AI agents, and other models plug in safely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· EXTERNAL AI DEVELOPER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Query-Tool Gateway Invocation</a:t>
            </a:r>
            <a:endParaRPr lang="en-US" sz="2500" dirty="0"/>
          </a:p>
        </p:txBody>
      </p:sp>
      <p:pic>
        <p:nvPicPr>
          <p:cNvPr id="4" name="Image 0" descr="d_seq_exter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985" y="1371600"/>
            <a:ext cx="9352127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9048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never receive database credentials and never pass SQL or identifiers — only typed parameter values cross the boundary.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REGISTRIES, TWO PURPOSES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Tools vs. the External Gateway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TOOL REGISTRY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Used by agents inside a bounded plan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90779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Built-in handlers + allowlisted HTTP only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529584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Declared JSON Schema, timeout, retry policy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4151376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Host must be in TOOL_HTTP_ALLOWLIST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45352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QUERY-TOOL GATEWAY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19672" y="228600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Used by external AI clients over REST / OpenAPI / MCP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19672" y="290779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Fixed, admin-authored SQL template — typed value params only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19672" y="3529584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Per-client grants, publication lifecycle, full audit history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19672" y="4151376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Native driver or named upstream MCP tool underneath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PATTERNS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Not to Become the Next Outage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892808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limiting — fails open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311810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Redis-backed fixed window, 60 req/min/client default. If Redis is unreachable, the gateway stays available rather than becoming a new outage vector.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169164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0288" y="1892808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Per-connector concurrency guard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90288" y="2651760"/>
            <a:ext cx="311810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BoundedSemaphore caps simultaneous physical connections per connector (default 8) — callers wait briefly, then get a clear 503, instead of the source silently absorbing unbounded connections.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0" y="1691640"/>
            <a:ext cx="3520440" cy="3017520"/>
          </a:xfrm>
          <a:prstGeom prst="roundRect">
            <a:avLst>
              <a:gd name="adj" fmla="val 2727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30768" y="1892808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Durable one-off extraction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30768" y="2651760"/>
            <a:ext cx="311810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on-demand “extract now” path now runs through Temporal like every other ingestion path — a crash mid-extraction retries instead of silently losing the run.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Choice, Embedded BI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PROVIDERS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deterministic (works offline)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99923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9992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3.6 / 3.5 Flash — default for SQL &amp; planning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62102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6210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24281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424281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86460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8646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/ internal provider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4864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records provenance, cost, and latency. Secrets are env/mounted references only — never stored in the database.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45352" y="169164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1920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ANALYTICS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19672" y="23774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93992" y="23774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Superset embeds directly inside DataPilot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19672" y="31546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93992" y="31546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Short-lived, dashboard-scoped guest tokens; no second login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19672" y="39319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93992" y="39319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“Open editor” performs a short-lived handoff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19672" y="47091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93992" y="47091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creates datasets, charts, dashboard, embed domains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141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2801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6 · 5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Enterprise-Grade Design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topology, security posture, and how the platform scales and stays reliable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Topology</a:t>
            </a:r>
            <a:endParaRPr lang="en-US" sz="2500" dirty="0"/>
          </a:p>
        </p:txBody>
      </p:sp>
      <p:pic>
        <p:nvPicPr>
          <p:cNvPr id="4" name="Image 0" descr="d_deploy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9161" y="1371600"/>
            <a:ext cx="7499773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9048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Non-root, least-privilege pods on both vanilla Kubernetes and OpenShift's restricted SCC, unmodified.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GOVERNANCE CONTROLS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In, Not Bolted 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&amp; tenant boundary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20440" y="1554480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auth, roles, project membership, project-scoped queries, distinct external client grants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4028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20440" y="2240280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env:/mounted references only — never stored in the UI or source control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2608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safety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2926080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SELECT/WITH statement only; DDL, DML, multi-statement, malformed content all rejected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1188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safety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3611880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validation, built-in or allowlisted HTTP only, timeout/retry, audit evidence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29768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 boundary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4297680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Writes, DDL, deployment, schedules, retention cleanup, high-risk tools all route through approval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98348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20440" y="4983480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provenance, job logs, versions, reviews, lineage, invocations, decisions — all durable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66928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66928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safety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20440" y="5669280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/ read-only SQL / restricted Python only — no imports, no file or network access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to Scale Horizontally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64792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2–8 / 2–6 / 2–10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2313432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web / worker replicas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2651760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HorizontalPodAutoscalers, CPU-triggered — stateless pods, standard container-native scaling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764792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90288" y="2313432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scaling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90288" y="2651760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Temporal worker pool scales separately from the API, so ingestion/agent bursts never starve interactive traffic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8229600" y="16002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0768" y="1764792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Tunable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30768" y="2313432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 sizing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30768" y="2651760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DB_POOL_SIZE / DB_POOL_MAX_OVERFLOW explicit and documented — sized deliberately against Postgres max_connections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005072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Bounded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49808" y="4553712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Per-connector concurrency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4892040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semaphore ceiling protects every external source from an unbounded burst of simultaneous connections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4389120" y="384048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0288" y="4005072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Durable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90288" y="4553712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ingestion path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90288" y="4892040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Scans, schedules, and one-off extractions all execute through Temporal — retry-on-crash, full history, no silent loss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8229600" y="384048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30768" y="4005072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Non-root everywhere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430768" y="4553712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security posture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30768" y="4892040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runAsNonRoot, all capabilities dropped, RuntimeDefault seccomp — vanilla-K8s and OpenShift SCC, unmodified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41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CASE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Design Holds Up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157984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97510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by design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975104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action is a typed, approved, audited tool call — not a raw model with credentials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935224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75234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Durable by design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2752344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Temporal, not the request thread, owns every long-running plan, scan, and schedule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712464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52958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by design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3529584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resolves back to PROJECT — no cross-tenant catalog, agent, or grant leakage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489704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30682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by design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4306824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learn from evaluation, not from themselves — a human click is always the last step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5266944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508406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Derived, not duplicated, state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5084064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is rebuildable from PostgreSQL; no second source of truth to keep consistent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828800"/>
            <a:ext cx="6400800" cy="6400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5 MIN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8346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Sequence Diagrams, Live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catalog &amp; search → ask a question (SQL preview) → agent run → approval → quality / pipeline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click-by-click steps: “Demo Storyboard.docx”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41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Q&amp;A · 10 MIN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Us Anything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case, positioning, personas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766560" y="230428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23042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90779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tech decisions, data model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766560" y="29260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29260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529584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Workflows, sequence flows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766560" y="3547872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35478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4151376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governance, enforcement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766560" y="416966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416966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477316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Integrations, gateway, resilience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766560" y="4791456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479145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539496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Deployment, security, scale, reliability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766560" y="541324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54132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6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anticipated Q&amp;A with prepared answers: “Anticipated Q&amp;A.docx”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31089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DataPilot Agent 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real data engineering work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DataPilot Agent 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DataPilot Agent OS Team</dc:creator>
  <cp:lastModifiedBy>DataPilot Agent OS Team</cp:lastModifiedBy>
  <cp:revision>1</cp:revision>
  <dcterms:created xsi:type="dcterms:W3CDTF">2026-08-09T03:11:52Z</dcterms:created>
  <dcterms:modified xsi:type="dcterms:W3CDTF">2026-08-09T03:11:52Z</dcterms:modified>
</cp:coreProperties>
</file>