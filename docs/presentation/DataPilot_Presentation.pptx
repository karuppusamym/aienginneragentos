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8" r:id="rId39"/>
    <p:sldId id="279" r:id="rId25"/>
    <p:sldId id="280" r:id="rId26"/>
    <p:sldId id="281" r:id="rId27"/>
    <p:sldId id="282" r:id="rId28"/>
    <p:sldId id="283" r:id="rId29"/>
    <p:sldId id="284" r:id="rId30"/>
    <p:sldId id="289" r:id="rId40"/>
    <p:sldId id="285" r:id="rId31"/>
    <p:sldId id="290" r:id="rId41"/>
    <p:sldId id="292" r:id="rId43"/>
    <p:sldId id="294" r:id="rId45"/>
    <p:sldId id="291" r:id="rId42"/>
    <p:sldId id="293" r:id="rId44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2.xml"/><Relationship Id="rId32" Type="http://schemas.openxmlformats.org/officeDocument/2006/relationships/slide" Target="slides/slide38.xml"/><Relationship Id="rId33" Type="http://schemas.openxmlformats.org/officeDocument/2006/relationships/slide" Target="slides/slide39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4.xml"/><Relationship Id="rId40" Type="http://schemas.openxmlformats.org/officeDocument/2006/relationships/slide" Target="slides/slide31.xml"/><Relationship Id="rId41" Type="http://schemas.openxmlformats.org/officeDocument/2006/relationships/slide" Target="slides/slide33.xml"/><Relationship Id="rId42" Type="http://schemas.openxmlformats.org/officeDocument/2006/relationships/slide" Target="slides/slide36.xml"/><Relationship Id="rId43" Type="http://schemas.openxmlformats.org/officeDocument/2006/relationships/slide" Target="slides/slide34.xml"/><Relationship Id="rId44" Type="http://schemas.openxmlformats.org/officeDocument/2006/relationships/slide" Target="slides/slide37.xml"/><Relationship Id="rId45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114800" cy="41148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1031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DATAPILOT AGENT 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 Review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sequence flows, and enterprise-grade design — for architects and principal engineers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presenters  ·  45 minutes  ·  live demo  ·  open technical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Minutes,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01952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0:00 – 0:30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880360" y="190195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speakers, 5 min each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09360" y="1901952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→ Architecture → Workflows → Agents &amp; governance → Integrations → Enterprise-grade design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10712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0:30 – 0:35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880360" y="341071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3410712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continuous walkthrough of the flows shown in the sequence diagrams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919472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0:35 – 0:45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880360" y="491947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Q&amp;A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4919472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floor — questions routed to the presenter who owns that architecture area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TALKING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Speakers, Six Architecture Views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  ·  5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Case &amp; Positioning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the personas, what this deliberately is not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57800" y="193852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  ·  5 MIN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17720" y="2560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17720" y="30632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diagram, component boundaries, technology decisions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19202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98280" y="193852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  ·  5 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58200" y="2560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Workflows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58200" y="30632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diagrams — data engineer and analyst journeys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16052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3891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417320" y="44074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  ·  5 MIN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50292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&amp; Governance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77240" y="553212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orchestration, agent roles, enforcement architecture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89120" y="416052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43891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257800" y="44074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5  ·  5 MIN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617720" y="50292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Architecture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53212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gateway, MCP, model providers, resilience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416052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58200" y="43891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5820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098280" y="44074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6  ·  5 MIN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458200" y="50292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Enterprise-Grade Design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458200" y="553212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topology, security, scalability, reliability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 · 5 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3154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Case &amp; Positioning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exists, who it serves, and what it deliberately does not do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Problems, Five Governed Responses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128016" cy="128016"/>
          </a:xfrm>
          <a:prstGeom prst="ellipse">
            <a:avLst/>
          </a:prstGeom>
          <a:solidFill>
            <a:srgbClr val="E09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673352"/>
            <a:ext cx="5074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don't know the right tables, metrics, or SQL dialect.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92024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673352"/>
            <a:ext cx="4846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semantic metrics + hybrid search ground every answer.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880360"/>
            <a:ext cx="128016" cy="128016"/>
          </a:xfrm>
          <a:prstGeom prst="ellipse">
            <a:avLst/>
          </a:prstGeom>
          <a:solidFill>
            <a:srgbClr val="E09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33472"/>
            <a:ext cx="5074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rebuild the same ingestion/transform work repeatedly.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2633472"/>
            <a:ext cx="4846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file mapping, quality rules, pipelines, lineage, schedules.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128016" cy="128016"/>
          </a:xfrm>
          <a:prstGeom prst="ellipse">
            <a:avLst/>
          </a:prstGeom>
          <a:solidFill>
            <a:srgbClr val="E09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593592"/>
            <a:ext cx="5074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can be unsafe or unauditable.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384048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593592"/>
            <a:ext cx="4846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SQL, typed tools, risk levels, approvals, immutable versions.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800600"/>
            <a:ext cx="128016" cy="128016"/>
          </a:xfrm>
          <a:prstGeom prst="ellipse">
            <a:avLst/>
          </a:prstGeom>
          <a:solidFill>
            <a:srgbClr val="E09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553712"/>
            <a:ext cx="5074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AI clients need data but not raw credentials.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55080" y="480060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4553712"/>
            <a:ext cx="4846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Published, scoped query tools over REST / OpenAPI / MCP.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760720"/>
            <a:ext cx="128016" cy="128016"/>
          </a:xfrm>
          <a:prstGeom prst="ellipse">
            <a:avLst/>
          </a:prstGeom>
          <a:solidFill>
            <a:srgbClr val="E09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5513832"/>
            <a:ext cx="5074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work disappears in a chat thread.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576072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5513832"/>
            <a:ext cx="4846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jobs retain plan, evidence, retries, and incidents.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Personas, One Control Plane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48840" cy="434340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20240"/>
            <a:ext cx="1819656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2024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60604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2880360"/>
            <a:ext cx="181965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answers, SQL preview, charts, reports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13232" y="434340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3232" y="4617720"/>
            <a:ext cx="18196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catalog-grounded and read-only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25496" y="1691640"/>
            <a:ext cx="2148840" cy="434340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0088" y="1920240"/>
            <a:ext cx="1819656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92024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990088" y="260604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990088" y="2880360"/>
            <a:ext cx="181965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Profiled files, mappings, pipelines, lineage, schedules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90088" y="434340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990088" y="4617720"/>
            <a:ext cx="18196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 &amp; recurring runs need approval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02352" y="1691640"/>
            <a:ext cx="2148840" cy="434340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1920240"/>
            <a:ext cx="1819656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66944" y="192024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66944" y="260604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66944" y="2880360"/>
            <a:ext cx="181965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isolation, roles, model/connector config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66944" y="434340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66944" y="4617720"/>
            <a:ext cx="18196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never reach the browser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79208" y="1691640"/>
            <a:ext cx="2148840" cy="434340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43800" y="1920240"/>
            <a:ext cx="1819656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43800" y="192024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Reviewer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43800" y="2880360"/>
            <a:ext cx="181965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queue, versions, audit, job evidence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543800" y="434340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43800" y="4617720"/>
            <a:ext cx="18196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vendors never become the approver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656064" y="1691640"/>
            <a:ext cx="2148840" cy="434340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20656" y="1920240"/>
            <a:ext cx="1819656" cy="457200"/>
          </a:xfrm>
          <a:prstGeom prst="roundRect">
            <a:avLst>
              <a:gd name="adj" fmla="val 12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20656" y="1920240"/>
            <a:ext cx="18196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AI Developer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820656" y="260604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820656" y="2880360"/>
            <a:ext cx="181965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searchable, least-privilege query tools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820656" y="4343400"/>
            <a:ext cx="1819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820656" y="4617720"/>
            <a:ext cx="18196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raw SQL, identifiers, or credentials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Scoped, Not Accidentally Limited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617720"/>
          </a:xfrm>
          <a:prstGeom prst="roundRect">
            <a:avLst>
              <a:gd name="adj" fmla="val 158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control plane for models, tools, approvals, artifacts, and execution history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Enterprise database + file context, unified under one catalog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Bounded multi-agent operation with durable evidence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discoverable, governed surface for external AI clients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5352" y="1600200"/>
            <a:ext cx="5394960" cy="4617720"/>
          </a:xfrm>
          <a:prstGeom prst="roundRect">
            <a:avLst>
              <a:gd name="adj" fmla="val 1584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828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DELIBERATELY IS NOT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19672" y="2286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 a cloud data warehouse replacement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19672" y="29718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 an unrestricted coding agent — no arbitrary code execution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19672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 a BI platform — Superset stays the analytics surface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19672" y="43434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 autonomous — every improvement requires a human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 · 5 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3154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design, component boundaries, and the technology decisions behind them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Solution Architecture</a:t>
            </a:r>
            <a:endParaRPr lang="en-US" sz="2500" dirty="0"/>
          </a:p>
        </p:txBody>
      </p:sp>
      <p:pic>
        <p:nvPicPr>
          <p:cNvPr id="4" name="Image 0" descr="d_solution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948" y="1371600"/>
            <a:ext cx="6864199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crosses a policy boundary — authenticate, scope, validate, then (if risky) wait for a human approval before executing.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Component Has an Explicit Boundary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877824"/>
          </a:xfrm>
          <a:prstGeom prst="roundRect">
            <a:avLst>
              <a:gd name="adj" fmla="val 7292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web app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337560" y="1645920"/>
            <a:ext cx="4023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workspace UI for every workflow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98080" y="1645920"/>
            <a:ext cx="3977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receives connector/provider secrets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542032"/>
            <a:ext cx="11064240" cy="877824"/>
          </a:xfrm>
          <a:prstGeom prst="roundRect">
            <a:avLst>
              <a:gd name="adj" fmla="val 7292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control plane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337560" y="2633472"/>
            <a:ext cx="4023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AuthN/Z, project scope, policy, SQL safety, orchestration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0" y="2633472"/>
            <a:ext cx="3977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is authoritative; the API enforces policy, not the 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877824"/>
          </a:xfrm>
          <a:prstGeom prst="roundRect">
            <a:avLst>
              <a:gd name="adj" fmla="val 7292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621024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37560" y="3621024"/>
            <a:ext cx="4023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catalog, staged data, jobs, approvals, audit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98080" y="3621024"/>
            <a:ext cx="3977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— Qdrant is fully rebuildable from it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11064240" cy="877824"/>
          </a:xfrm>
          <a:prstGeom prst="roundRect">
            <a:avLst>
              <a:gd name="adj" fmla="val 7292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608576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+ worker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337560" y="4608576"/>
            <a:ext cx="4023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execution outside the HTTP request lifecycle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98080" y="4608576"/>
            <a:ext cx="3977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stays the product-facing record; workflow ID just links to it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04688"/>
            <a:ext cx="11064240" cy="877824"/>
          </a:xfrm>
          <a:prstGeom prst="roundRect">
            <a:avLst>
              <a:gd name="adj" fmla="val 7292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596128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 / Tool runtime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337560" y="5596128"/>
            <a:ext cx="4023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scans, parameterized queries, typed tool calls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498080" y="5596128"/>
            <a:ext cx="3977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arbitrary SQL, no arbitrary outbound hosts, no raw code exec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DECISION RECORD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Deliberately, Documented Honestly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82880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50876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1508760"/>
            <a:ext cx="21031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2450592" y="1508760"/>
            <a:ext cx="1956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0560" y="1508760"/>
            <a:ext cx="374904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553712" y="1508760"/>
            <a:ext cx="3602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302752" y="1508760"/>
            <a:ext cx="3054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considered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182880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1911096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&amp; join storage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377440" y="1874520"/>
            <a:ext cx="210312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450592" y="1911096"/>
            <a:ext cx="19568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edge-list + recursive CTEs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80560" y="1874520"/>
            <a:ext cx="374904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1911096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queries are 0–1 hop; a second store would duplicate the source of truth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0" y="1874520"/>
            <a:ext cx="320040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302752" y="1911096"/>
            <a:ext cx="30540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/ graph DB — revisit if interactive multi-hop traversal becomes real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70632"/>
            <a:ext cx="182880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" y="2807208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execution engine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377440" y="2770632"/>
            <a:ext cx="210312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2450592" y="2807208"/>
            <a:ext cx="19568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80560" y="2770632"/>
            <a:ext cx="374904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53712" y="2807208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Retries, history, visibility built in — the right fit for bounded agent plans &amp; scheduled ingestion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0" y="2770632"/>
            <a:ext cx="320040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8302752" y="2807208"/>
            <a:ext cx="30540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custom consumers — a log isn't a workflow engine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3666744"/>
            <a:ext cx="182880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370332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Cross-request state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377440" y="3666744"/>
            <a:ext cx="210312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2450592" y="3703320"/>
            <a:ext cx="19568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480560" y="3666744"/>
            <a:ext cx="374904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370332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provisioned; now backs rate limiting; a good fit for caching/session revocation next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229600" y="3666744"/>
            <a:ext cx="320040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8302752" y="3703320"/>
            <a:ext cx="30540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broker — not justified by any current fan-out need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4562856"/>
            <a:ext cx="182880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" y="4599432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retrieval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377440" y="4562856"/>
            <a:ext cx="210312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2450592" y="4599432"/>
            <a:ext cx="19568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Qdrant, derived from PostgreSQL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480560" y="4562856"/>
            <a:ext cx="374904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41" name="Text 39"/>
          <p:cNvSpPr/>
          <p:nvPr/>
        </p:nvSpPr>
        <p:spPr>
          <a:xfrm>
            <a:off x="4553712" y="4599432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has no relational equivalent; fully rebuildable, holds no credentials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229600" y="4562856"/>
            <a:ext cx="3200400" cy="896112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43" name="Text 41"/>
          <p:cNvSpPr/>
          <p:nvPr/>
        </p:nvSpPr>
        <p:spPr>
          <a:xfrm>
            <a:off x="8302752" y="4599432"/>
            <a:ext cx="30540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vectors in PostgreSQL — revisit only at very large scale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458968"/>
            <a:ext cx="182880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" y="5495544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connection ceiling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377440" y="5458968"/>
            <a:ext cx="210312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2450592" y="5495544"/>
            <a:ext cx="19568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Per-connector BoundedSemaphore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480560" y="5458968"/>
            <a:ext cx="374904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53712" y="5495544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 governed reads, not OLTP — a pool would be the wrong shape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29600" y="5458968"/>
            <a:ext cx="3200400" cy="8961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8302752" y="5495544"/>
            <a:ext cx="305409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connection pooler — pair with it if a source becomes constrained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— Everything Is Project-Scoped</a:t>
            </a:r>
            <a:endParaRPr lang="en-US" sz="2500" dirty="0"/>
          </a:p>
        </p:txBody>
      </p:sp>
      <p:pic>
        <p:nvPicPr>
          <p:cNvPr id="4" name="Image 0" descr="d_domain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8580" y="1371600"/>
            <a:ext cx="7940936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foreign key resolves back to PROJECT — no cross-project catalog sharing, agent reuse, or query-tool grant.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 · 5 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3154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Workflows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everyday journeys, traced end to end as sequence diagrams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· DATA ENGINEER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→ Quality → Governed Deployment</a:t>
            </a:r>
            <a:endParaRPr lang="en-US" sz="2500" dirty="0"/>
          </a:p>
        </p:txBody>
      </p:sp>
      <p:pic>
        <p:nvPicPr>
          <p:cNvPr id="4" name="Image 0" descr="d_seq_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7688" y="1371600"/>
            <a:ext cx="8862720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 block is the load-bearing detail: risky deployments and recurring schedules stop and wait for a recorded human decision.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· DATA ANALYST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Grounded Analytical Question</a:t>
            </a:r>
            <a:endParaRPr lang="en-US" sz="2500" dirty="0"/>
          </a:p>
        </p:txBody>
      </p:sp>
      <p:pic>
        <p:nvPicPr>
          <p:cNvPr id="4" name="Image 0" descr="d_seq_analy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244" y="1371600"/>
            <a:ext cx="9277608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 block is the safety net: an invalid or unavailable model still resolves to a repair pass or a deterministic catalog fallback — never a hang.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 · 5 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3154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&amp; Governance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orchestration, specialist agent roles, and the enforcement architecture behind them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· AI AGENT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Multi-Agent Orchestration</a:t>
            </a:r>
            <a:endParaRPr lang="en-US" sz="2500" dirty="0"/>
          </a:p>
        </p:txBody>
      </p:sp>
      <p:pic>
        <p:nvPicPr>
          <p:cNvPr id="4" name="Image 0" descr="d_seq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2269" y="1371600"/>
            <a:ext cx="9553557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hard-capped at 12 calls, low-risk built-ins only — every plan, output, and model call is persisted as evidence.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Roles, Each With a Declared Authority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031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508760"/>
            <a:ext cx="1956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51760" y="1508760"/>
            <a:ext cx="57607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2724912" y="1508760"/>
            <a:ext cx="5614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412480" y="1508760"/>
            <a:ext cx="30175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485632" y="1508760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authority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874520"/>
            <a:ext cx="21031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187452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51760" y="1874520"/>
            <a:ext cx="57607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87452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an objective into 3–6 bounded steps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412480" y="1874520"/>
            <a:ext cx="30175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485632" y="187452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423160"/>
            <a:ext cx="21031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242316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651760" y="2423160"/>
            <a:ext cx="57607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2724912" y="242316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catalog assets, documents, metrics, approved joins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2423160"/>
            <a:ext cx="30175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8485632" y="242316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retrieval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971800"/>
            <a:ext cx="21031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97180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651760" y="2971800"/>
            <a:ext cx="57607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2724912" y="297180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Draft, explain, validate, revise dialect-aware read-only SQL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412480" y="2971800"/>
            <a:ext cx="30175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485632" y="297180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preview only when permitted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520440"/>
            <a:ext cx="21031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352044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51760" y="3520440"/>
            <a:ext cx="57607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2724912" y="352044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local pipeline/view package and lineage draft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3520440"/>
            <a:ext cx="30175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33" name="Text 31"/>
          <p:cNvSpPr/>
          <p:nvPr/>
        </p:nvSpPr>
        <p:spPr>
          <a:xfrm>
            <a:off x="8485632" y="352044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requires approval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69080"/>
            <a:ext cx="21031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621792" y="406908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51760" y="4069080"/>
            <a:ext cx="57607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2724912" y="406908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data, propose or run governed checks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412480" y="4069080"/>
            <a:ext cx="30175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485632" y="406908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requires approval when configured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4617720"/>
            <a:ext cx="21031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" y="461772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Troubleshooter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651760" y="4617720"/>
            <a:ext cx="57607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43" name="Text 41"/>
          <p:cNvSpPr/>
          <p:nvPr/>
        </p:nvSpPr>
        <p:spPr>
          <a:xfrm>
            <a:off x="2724912" y="461772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job evidence, propose safe retry/remediation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412480" y="4617720"/>
            <a:ext cx="3017520" cy="548640"/>
          </a:xfrm>
          <a:prstGeom prst="rect">
            <a:avLst/>
          </a:prstGeom>
          <a:solidFill>
            <a:srgbClr val="F4F6FC"/>
          </a:solidFill>
          <a:ln/>
        </p:spPr>
      </p:sp>
      <p:sp>
        <p:nvSpPr>
          <p:cNvPr id="45" name="Text 43"/>
          <p:cNvSpPr/>
          <p:nvPr/>
        </p:nvSpPr>
        <p:spPr>
          <a:xfrm>
            <a:off x="8485632" y="461772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perform arbitrary remediation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166360"/>
            <a:ext cx="21031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21792" y="5166360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651760" y="5166360"/>
            <a:ext cx="57607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2724912" y="5166360"/>
            <a:ext cx="56144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project scope, risk, and approval requirements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412480" y="5166360"/>
            <a:ext cx="30175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8485632" y="5166360"/>
            <a:ext cx="28712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limits; not a model-only opinion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Path, Five Checks, Before Anything Executes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783080" cy="2103120"/>
          </a:xfrm>
          <a:prstGeom prst="roundRect">
            <a:avLst>
              <a:gd name="adj" fmla="val 4103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identity / client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331720" y="28803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96312" y="1920240"/>
            <a:ext cx="1783080" cy="2103120"/>
          </a:xfrm>
          <a:prstGeom prst="roundRect">
            <a:avLst>
              <a:gd name="adj" fmla="val 4103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33472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633472" y="26060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project scope &amp; role/grant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28803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43984" y="1920240"/>
            <a:ext cx="1783080" cy="2103120"/>
          </a:xfrm>
          <a:prstGeom prst="roundRect">
            <a:avLst>
              <a:gd name="adj" fmla="val 4103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1144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81144" y="26060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contract: schema, SQL, relation, limits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27064" y="28803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91656" y="1920240"/>
            <a:ext cx="1783080" cy="2103120"/>
          </a:xfrm>
          <a:prstGeom prst="roundRect">
            <a:avLst>
              <a:gd name="adj" fmla="val 4103"/>
            </a:avLst>
          </a:prstGeom>
          <a:solidFill>
            <a:srgbClr val="E09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28816" y="26060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decision — approval if required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174736" y="28803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339328" y="1920240"/>
            <a:ext cx="1783080" cy="2103120"/>
          </a:xfrm>
          <a:prstGeom prst="roundRect">
            <a:avLst>
              <a:gd name="adj" fmla="val 4103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6488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76488" y="26060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execution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22408" y="288036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287000" y="1920240"/>
            <a:ext cx="1783080" cy="2103120"/>
          </a:xfrm>
          <a:prstGeom prst="roundRect">
            <a:avLst>
              <a:gd name="adj" fmla="val 4103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0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424160" y="26060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job / artifact / audit evidence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343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telemetry (AgentGuard / OTLP / signed webhook) observes this path in sanitized form — it complements local enforcement and is never the system of record for the approval itself.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5 · 5 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3154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Architecture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other systems, other AI agents, and other models plug in safely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· EXTERNAL AI DEVELOPER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Query-Tool Gateway Invocation</a:t>
            </a:r>
            <a:endParaRPr lang="en-US" sz="2500" dirty="0"/>
          </a:p>
        </p:txBody>
      </p:sp>
      <p:pic>
        <p:nvPicPr>
          <p:cNvPr id="4" name="Image 0" descr="d_seq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985" y="1371600"/>
            <a:ext cx="9352127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never receive database credentials and never pass SQL or identifiers — only typed parameter values cross the boundary.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REGISTRIES, TWO PURPOSES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Tools vs. the External Gateway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 REGISTRY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Used by agents inside a bounded plan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07792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Built-in handlers + allowlisted HTTP only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529584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Declared JSON Schema, timeout, retry policy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151376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Host must be in TOOL_HTTP_ALLOWLIST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45352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828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QUERY-TOOL GATEWAY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19672" y="2286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Used by external AI clients over REST / OpenAPI / MCP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2907792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Fixed, admin-authored SQL template — typed value params only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19672" y="3529584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Per-client grants, publication lifecycle, full audit history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9672" y="4151376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Native driver or named upstream MCP tool underneath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PATTERNS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Not to Become the Next Outage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92808"/>
            <a:ext cx="31181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limiting — fails open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49808" y="2651760"/>
            <a:ext cx="31181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fixed window, 60 req/min/client default. If Redis is unreachable, the gateway stays available rather than becoming a new outage vector.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892808"/>
            <a:ext cx="31181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Per-connector concurrency guard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90288" y="2651760"/>
            <a:ext cx="31181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BoundedSemaphore caps simultaneous physical connections per connector (default 8) — callers wait briefly, then get a clear 503, instead of the source silently absorbing unbounded connections.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69164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30768" y="1892808"/>
            <a:ext cx="31181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one-off extraction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30768" y="2651760"/>
            <a:ext cx="31181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on-demand “extract now” path now runs through Temporal like every other ingestion path — a crash mid-extraction retries instead of silently losing the run.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SELF-CORRECTION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Newer Reasoning Loops, Verified Directly Against Code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92808"/>
            <a:ext cx="31181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Self-healing tool-call recovery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49808" y="2651760"/>
            <a:ext cx="31181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failed tool call, the model is re-prompted with the schema, objective, and error text to propose a fix. The correction passes the same schema and grounded-id validation as any other parameter fill, or it is discarded.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892808"/>
            <a:ext cx="31181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Plan-reviewer / critic loop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90288" y="2651760"/>
            <a:ext cx="31181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planned steps execute, a Reviewer pass checks outputs against the objective and may append up to 2 more steps from the run’s already-enabled agents — additive only, still bound by the same approval and risk gates.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69164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30768" y="1892808"/>
            <a:ext cx="31181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Graph-based multi-hop join grounding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30768" y="2651760"/>
            <a:ext cx="31181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SQL-generation grounding now walks the semantic join graph instead of only single-hop pairs, surfacing the join-policy chain connecting two tables that are not directly joined (A→B→C→D).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Provider Choice, Embedded BI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deterministic (works offline)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299923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9992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3.6 / 3.5 Flash — default for SQL &amp; planning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362102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6210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24281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424281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86460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8646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/ internal provider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records provenance, cost, and latency. Secrets are env/mounted references only — never stored in the database. Catalog vector search now embeds with Gemini text-embedding-004, falling back to a deterministic hash only if the call fails.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45352" y="169164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9672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ANALYTICS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19672" y="23774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93992" y="237744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Superset embeds directly inside DataPilot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19672" y="315468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93992" y="315468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dashboard-scoped guest tokens; no second login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19672" y="39319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93992" y="393192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“Open editor” performs a short-lived handoff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19672" y="47091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93992" y="470916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creates datasets, charts, dashboard, embed domains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41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6 · 5 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3154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Enterprise-Grade Design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topology, security posture, and how the platform scales and stays reliable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Topology</a:t>
            </a:r>
            <a:endParaRPr lang="en-US" sz="2500" dirty="0"/>
          </a:p>
        </p:txBody>
      </p:sp>
      <p:pic>
        <p:nvPicPr>
          <p:cNvPr id="4" name="Image 0" descr="d_deploy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161" y="1371600"/>
            <a:ext cx="7499773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9048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Non-root, least-privilege pods on both vanilla Kubernetes and OpenShift's restricted SCC, unmodified.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GOVERNANCE CONTROLS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In, Not Bolted 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tenant boundary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5544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auth, roles, project membership, project-scoped queries, distinct external client grants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402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20440" y="22402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env:/mounted references only — never stored in the UI or source control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260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safety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29260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SELECT/WITH statement only; DDL, DML, multi-statement, malformed content all rejected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118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safety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20440" y="36118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validation, built-in or allowlisted HTTP only, timeout/retry, audit evidence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976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 boundary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42976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Writes, DDL, deployment, schedules, retention cleanup, high-risk tools all route through approval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9834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20440" y="49834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provenance, job logs, versions, reviews, lineage, invocations, decisions — all durable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6692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669280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safety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566928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read-only SQL / restricted Python only — no imports, no file or network access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to Scale Horizontally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6479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2–8 / 2–6 / 2–10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2313432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web / worker replicas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651760"/>
            <a:ext cx="31181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HorizontalPodAutoscalers, CPU-triggered — stateless pods, standard container-native scaling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176479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90288" y="2313432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scaling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0288" y="2651760"/>
            <a:ext cx="31181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Temporal worker pool scales separately from the API, so ingestion/agent bursts never starve interactive traffic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0768" y="176479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Tunable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430768" y="2313432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 sizing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30768" y="2651760"/>
            <a:ext cx="31181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DB_POOL_SIZE / DB_POOL_MAX_OVERFLOW explicit and documented — sized deliberately against Postgres max_connections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0050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49808" y="4553712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Per-connector concurrency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" y="4892040"/>
            <a:ext cx="31181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semaphore ceiling protects every external source from an unbounded burst of simultaneous connections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4389120" y="384048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0288" y="40050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90288" y="4553712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ingestion path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90288" y="4892040"/>
            <a:ext cx="31181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Scans, schedules, and one-off extractions all execute through Temporal — retry-on-crash, full history, no silent loss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8229600" y="384048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4F6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30768" y="40050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Non-root everywhere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430768" y="4553712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 posture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30768" y="4892040"/>
            <a:ext cx="31181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runAsNonRoot, all capabilities dropped, RuntimeDefault seccomp — vanilla-K8s and OpenShift SCC, unmodified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Design Holds Up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5798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97510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by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0" y="1975104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action is a typed, approved, audited tool call — not a raw model with credentials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93522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75234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by design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2752344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Temporal, not the request thread, owns every long-running plan, scan, and schedule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71246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2958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by design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529584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resolves back to PROJECT — no cross-tenant catalog, agent, or grant leakage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48970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430682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by design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306824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learn from evaluation, not from themselves — a human click is always the last step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526694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50840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Derived, not duplicated, state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0" y="5084064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is rebuildable from PostgreSQL; no second source of truth to keep consistent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A896"/>
                </a:solidFill>
                <a:latin typeface="Calibri"/>
              </a:rPr>
              <a:t>07 · IMPLEMENTATION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Where the Build Actually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0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Reconciled directly against the running code and the live app this session — not against prior documentation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0440" cy="196596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64792"/>
            <a:ext cx="31181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Cambria"/>
              </a:rPr>
              <a:t>54 items · 53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13432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96"/>
                </a:solidFill>
                <a:latin typeface="Calibri"/>
              </a:rPr>
              <a:t>Core product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51760"/>
            <a:ext cx="31181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485"/>
                </a:solidFill>
                <a:latin typeface="Calibri"/>
              </a:rPr>
              <a:t>Only 1 partial: dbt/Dataform package emission — codegen exists (~1,100 lines), not yet run against a real dbt CLI.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520440" cy="196596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64792"/>
            <a:ext cx="31181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Cambria"/>
              </a:rPr>
              <a:t>12 items · 4/6/2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313432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96"/>
                </a:solidFill>
                <a:latin typeface="Calibri"/>
              </a:rPr>
              <a:t>Enterprise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51760"/>
            <a:ext cx="31181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485"/>
                </a:solidFill>
                <a:latin typeface="Calibri"/>
              </a:rPr>
              <a:t>Done / Partial / Open. SQL Server demo unblocked this session (self-contained Docker container). SSO, pen test, NetworkPolicy remain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00200"/>
            <a:ext cx="3520440" cy="196596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764792"/>
            <a:ext cx="31181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Cambria"/>
              </a:rPr>
              <a:t>8 items · 5/2/1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2313432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96"/>
                </a:solidFill>
                <a:latin typeface="Calibri"/>
              </a:rPr>
              <a:t>Engineering 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651760"/>
            <a:ext cx="31181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485"/>
                </a:solidFill>
                <a:latin typeface="Calibri"/>
              </a:rPr>
              <a:t>Screenshots upgraded to Done this session — 17 real captures. Demo video is the one remaining Not Started item.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3520440" cy="196596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31181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Cambria"/>
              </a:rPr>
              <a:t>8 items · 7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553712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96"/>
                </a:solidFill>
                <a:latin typeface="Calibri"/>
              </a:rPr>
              <a:t>Metadata 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892040"/>
            <a:ext cx="31181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485"/>
                </a:solidFill>
                <a:latin typeface="Calibri"/>
              </a:rPr>
              <a:t>One confirmed gap: no first-class multi-data-model grouping per project — flat catalog + tags only, by design decision not bug.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40480"/>
            <a:ext cx="3520440" cy="196596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005072"/>
            <a:ext cx="31181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Cambria"/>
              </a:rPr>
              <a:t>78 / 79 passing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553712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96"/>
                </a:solidFill>
                <a:latin typeface="Calibri"/>
              </a:rPr>
              <a:t>Backend test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892040"/>
            <a:ext cx="31181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485"/>
                </a:solidFill>
                <a:latin typeface="Calibri"/>
              </a:rPr>
              <a:t>1 skipped, independently re-run this session. Frontend tsc --noEmit and next build both clean.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840480"/>
            <a:ext cx="3520440" cy="196596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8" y="4005072"/>
            <a:ext cx="31181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Cambria"/>
              </a:rPr>
              <a:t>2 found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0768" y="4553712"/>
            <a:ext cx="3118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96"/>
                </a:solidFill>
                <a:latin typeface="Calibri"/>
              </a:rPr>
              <a:t>Bugs found live this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4892040"/>
            <a:ext cx="31181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485"/>
                </a:solidFill>
                <a:latin typeface="Calibri"/>
              </a:rPr>
              <a:t>SQL-generation 500 and Quality pass-rate/status mismatch — both root-caused and fixed in code; pending container redeploy to verify live.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9A9A9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A8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5 MIN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283464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Sequence Diagrams,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catalog &amp; search → ask a question (SQL preview) → agent run → approval → quality / pipeline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click-by-click steps: “Demo Storyboard.docx”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A896"/>
                </a:solidFill>
                <a:latin typeface="Calibri"/>
              </a:rPr>
              <a:t>LIVE DEMO · CAPTURED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Real Screens, Not Mockups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0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17 screenshots captured by driving the actual running application (Docker Compose stack, localhost:3000) end to end.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01 · Sign in</a:t>
            </a:r>
          </a:p>
        </p:txBody>
      </p:sp>
      <p:pic>
        <p:nvPicPr>
          <p:cNvPr id="7" name="Picture 6" descr="02-file-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8912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02 · Upload &amp; profile a file</a:t>
            </a:r>
          </a:p>
        </p:txBody>
      </p:sp>
      <p:pic>
        <p:nvPicPr>
          <p:cNvPr id="9" name="Picture 8" descr="08-agent-r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600200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22960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08 · Bounded agent run</a:t>
            </a:r>
          </a:p>
        </p:txBody>
      </p:sp>
      <p:pic>
        <p:nvPicPr>
          <p:cNvPr id="11" name="Picture 10" descr="09-approv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71615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4864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09 · Human approval gate</a:t>
            </a:r>
          </a:p>
        </p:txBody>
      </p:sp>
      <p:pic>
        <p:nvPicPr>
          <p:cNvPr id="13" name="Picture 12" descr="11-pipeline-design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3671615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8912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11 · Pipeline + lineage</a:t>
            </a:r>
          </a:p>
        </p:txBody>
      </p:sp>
      <p:pic>
        <p:nvPicPr>
          <p:cNvPr id="15" name="Picture 14" descr="12-security-dash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671615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22960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12 · Security posture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9A9A9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A896"/>
                </a:solidFill>
                <a:latin typeface="Calibri"/>
              </a:rPr>
              <a:t>FULL APPLICATION COVERAGE · CAPTURED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Every Corner of the App, Not Just the Demo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0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32 screenshots total now cover every nav section — governance, registries, admin, and analytics — not just the 13-step demo path.</a:t>
            </a:r>
          </a:p>
        </p:txBody>
      </p:sp>
      <p:pic>
        <p:nvPicPr>
          <p:cNvPr id="5" name="Picture 4" descr="14-semantic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Semantic layer — join graph</a:t>
            </a:r>
          </a:p>
        </p:txBody>
      </p:sp>
      <p:pic>
        <p:nvPicPr>
          <p:cNvPr id="7" name="Picture 6" descr="16-tool-registry-external-gate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8912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Tool registry — external gateway</a:t>
            </a:r>
          </a:p>
        </p:txBody>
      </p:sp>
      <p:pic>
        <p:nvPicPr>
          <p:cNvPr id="9" name="Picture 8" descr="21-superset-embe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600200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22960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Superset — live embedded charts</a:t>
            </a:r>
          </a:p>
        </p:txBody>
      </p:sp>
      <p:pic>
        <p:nvPicPr>
          <p:cNvPr id="11" name="Picture 10" descr="17-admin-connecto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71615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4864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Admin — Connectors</a:t>
            </a:r>
          </a:p>
        </p:txBody>
      </p:sp>
      <p:pic>
        <p:nvPicPr>
          <p:cNvPr id="13" name="Picture 12" descr="24-datasets-explor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3671615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8912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Datasets explorer</a:t>
            </a:r>
          </a:p>
        </p:txBody>
      </p:sp>
      <p:pic>
        <p:nvPicPr>
          <p:cNvPr id="15" name="Picture 14" descr="25-jobs-run-tra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671615"/>
            <a:ext cx="3520440" cy="1651415"/>
          </a:xfrm>
          <a:prstGeom prst="rect">
            <a:avLst/>
          </a:prstGeom>
          <a:ln w="9525">
            <a:solidFill>
              <a:srgbClr val="33333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22960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Jobs — full run trace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9A9A9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A896"/>
                </a:solidFill>
                <a:latin typeface="Calibri"/>
              </a:rPr>
              <a:t>LIVE VERIFICATION · SECOND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External Agent Access, Real Model, Full Governed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0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Follow-up requests this pass: MCP connector, external query-tool exposure, a full agent run, and Gemini 3.5 Flash — all actually exercised live, not just documented.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Gemini 3.5 Flash — tested healthy, set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MCP connector added (Toolbox unreachable — infra gap)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291615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Query tool — live test succeeded (real row)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External client — bearer token issued &amp; granted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Agent run — full plan trace, 5 specialists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6303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Calibri"/>
              </a:rPr>
              <a:t>Agent run — SUCCEEDED, 11 evidence items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9A9A9"/>
                </a:solidFill>
                <a:latin typeface="Calibri"/>
              </a:rPr>
              <a:t>34b</a:t>
            </a:r>
          </a:p>
        </p:txBody>
      </p:sp>
      <p:pic>
        <p:nvPicPr>
          <p:cNvPr id="18" name="Picture 17" descr="29-gemini-3-5-flash-heal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3520440" cy="1651415"/>
          </a:xfrm>
          <a:prstGeom prst="rect">
            <a:avLst/>
          </a:prstGeom>
        </p:spPr>
      </p:pic>
      <p:pic>
        <p:nvPicPr>
          <p:cNvPr id="19" name="Picture 18" descr="30-mcp-connector-ad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3520440" cy="1651415"/>
          </a:xfrm>
          <a:prstGeom prst="rect">
            <a:avLst/>
          </a:prstGeom>
        </p:spPr>
      </p:pic>
      <p:pic>
        <p:nvPicPr>
          <p:cNvPr id="20" name="Picture 19" descr="32-query-tool-live-test-suc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600200"/>
            <a:ext cx="3520440" cy="1651415"/>
          </a:xfrm>
          <a:prstGeom prst="rect">
            <a:avLst/>
          </a:prstGeom>
        </p:spPr>
      </p:pic>
      <p:pic>
        <p:nvPicPr>
          <p:cNvPr id="21" name="Picture 20" descr="33-external-client-token-issu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71615"/>
            <a:ext cx="3520440" cy="1651415"/>
          </a:xfrm>
          <a:prstGeom prst="rect">
            <a:avLst/>
          </a:prstGeom>
        </p:spPr>
      </p:pic>
      <p:pic>
        <p:nvPicPr>
          <p:cNvPr id="22" name="Picture 21" descr="34-agent-run-plan-tr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3671615"/>
            <a:ext cx="3520440" cy="1651415"/>
          </a:xfrm>
          <a:prstGeom prst="rect">
            <a:avLst/>
          </a:prstGeom>
        </p:spPr>
      </p:pic>
      <p:pic>
        <p:nvPicPr>
          <p:cNvPr id="23" name="Picture 22" descr="35-agent-run-succeeded-evide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671615"/>
            <a:ext cx="3520440" cy="165141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A896"/>
                </a:solidFill>
                <a:latin typeface="Calibri"/>
              </a:rPr>
              <a:t>TRANSPARENCY · FOUND BY DRIVING THE LIVE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Two Real Bugs, Found and Documented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00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Both found by actually clicking through the running application end to end this session — not by reading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43900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640" y="1780200"/>
            <a:ext cx="504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Issue #1 — SQL generation returns HTTP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640" y="2220200"/>
            <a:ext cx="50464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  <a:latin typeface="Calibri"/>
              </a:rPr>
              <a:t>STATUS: FIX WRITTEN, PENDING REDEPLOY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640" y="256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Symptom: POST /api/sql/generate and the ask-a-question endpoint both return 500 — reproduced 3× fresh via live network inspection.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640" y="3480200"/>
            <a:ext cx="5046400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Root cause: query results are persisted verbatim into a JSONB column; raw datetime/Decimal driver values aren't JSON-serializable. TypeError on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640" y="4500200"/>
            <a:ext cx="504640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Fix: added a _json_safe_value() converter in staging.py, consistent with the codebase's existing _coerce() pattern. Requires a container rebuild (no source bind-mount) — pending as of this deck.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486400" cy="43900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5080" y="1780200"/>
            <a:ext cx="504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Issue #2 — Quality rule run: contradictory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5080" y="2220200"/>
            <a:ext cx="50464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  <a:latin typeface="Calibri"/>
              </a:rPr>
              <a:t>STATUS: FIX WRITTEN, PENDING REDEPLOY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5080" y="256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Symptom: running the AI-suggested “transaction_id is unique” rule against a SQL Server source showed “Pass rate: 100%” and “Status: ERROR” at the same time, with a toast reading “0 rows passed.”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5080" y="360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Root cause: QualityRun's pass_rate/checked_rows/failed_rows defaulted to 100.0/0/0 and were never reset on error; separately, the run always queried the local Postgres engine, never the asset's actual external connector.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5080" y="460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Fix: exception handler now zeroes those fields on any failure, and an external-source asset now raises a clear “stage this table first” error. Same rebuild dependency as Issue #1 — not yet verified live.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9A9A9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A896"/>
                </a:solidFill>
                <a:latin typeface="Calibri"/>
              </a:rPr>
              <a:t>TRANSPARENCY · PART 2 — SECOND PASS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Two More Real Findings, From Driving It Further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00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Found while completing the external-agent-access and full-agent-run follow-up requests this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43900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640" y="1780200"/>
            <a:ext cx="504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Issue #3 — Query-tool "Test" returns a bare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640" y="2220200"/>
            <a:ext cx="50464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  <a:latin typeface="Calibri"/>
              </a:rPr>
              <a:t>STATUS: FIX WRITTEN, PENDING REDEPLOY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640" y="256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Symptom: testing a query tool against a connector with no usable credentials returned "Internal Server Error" with zero detail — no hint of what to fix.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640" y="3480200"/>
            <a:ext cx="5046400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Root cause: test_query_tool() called execute_connector_query() with no try/except; the sibling external-invoke path already had this handling, the internal Test button never got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640" y="4500200"/>
            <a:ext cx="504640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Fix: wrapped the call in the same try/except pattern as the invoke path — now returns an informative 422. Verified the underlying capability works once pointed at a connector with real credentials (see next section).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486400" cy="43900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5080" y="1780200"/>
            <a:ext cx="504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Issue #4 — Two indistinguishable "core.accounts" nodes in the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5080" y="2220200"/>
            <a:ext cx="50464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  <a:latin typeface="Calibri"/>
              </a:rPr>
              <a:t>STATUS: FIX WRITTEN, PENDING REDEPLOY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5080" y="256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Symptom: spotted by direct visual inspection — two Semantic-layer graph nodes both labeled plain "core.accounts," indistinguishable even on hover.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5080" y="360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Root cause: a local-seed table and an externally-scanned table legitimately share the same schema.table name (correct cataloging, not a data bug) — the graph labeled every node with a bare name, no source qualifier.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5080" y="4600200"/>
            <a:ext cx="504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B6485"/>
                </a:solidFill>
                <a:latin typeface="Calibri"/>
              </a:rPr>
              <a:t>Fix: appends "(source)" only to relation names that actually collide among a project's assets; every already-unique label is untouched. Datasets list view already disambiguated this way — only the graph had the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9A9A9"/>
                </a:solidFill>
                <a:latin typeface="Calibri"/>
              </a:rPr>
              <a:t>35b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731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Q&amp;A · 10 MIN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97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Us Anything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case, positioning, personas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766560" y="23042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230428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tech decisions, data model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766560" y="29260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9260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529584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Workflows, sequence flows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66560" y="3547872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3547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5137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governance, enforcement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766560" y="4169664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416966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7316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Integrations, gateway, resilience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766560" y="479145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47914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39496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security, scale, reliability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766560" y="54132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54132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anticipated Q&amp;A with prepared answers: “Anticipated Q&amp;A.docx”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141A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310896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DataPilot Agent OS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real data engineering work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DataPilot Agent 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DataPilot Agent OS Team</dc:creator>
  <cp:lastModifiedBy>DataPilot Agent OS Team</cp:lastModifiedBy>
  <cp:revision>1</cp:revision>
  <dcterms:created xsi:type="dcterms:W3CDTF">2026-08-09T03:11:52Z</dcterms:created>
  <dcterms:modified xsi:type="dcterms:W3CDTF">2026-08-09T03:11:52Z</dcterms:modified>
</cp:coreProperties>
</file>