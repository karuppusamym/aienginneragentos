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image" Target="../media/image-26-3.jpg"/><Relationship Id="rId4" Type="http://schemas.openxmlformats.org/officeDocument/2006/relationships/image" Target="../media/image-26-4.jpg"/><Relationship Id="rId5" Type="http://schemas.openxmlformats.org/officeDocument/2006/relationships/image" Target="../media/image-26-5.jpg"/><Relationship Id="rId6" Type="http://schemas.openxmlformats.org/officeDocument/2006/relationships/image" Target="../media/image-2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2926080" cy="292608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 Data Engineering Workspace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Product Demo &amp; Spec Completion Review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— Analysis · SQL Generation · Multi-Agent Orchestration · Tool Registry · Governance · Analytics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|  Screenshots captured live against a running local stack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3533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DataPilot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642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personas, and where it sits in the data stack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579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57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1396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4505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data plane, agent orchestration, model providers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2369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workflows captured end-to-end against a running stack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 &amp; fixed this pass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023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blocking bugs reproduced live; one fixed in-app, one root-caused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1713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17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498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completion status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8097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/ partial / not-built, from the code-verified tracker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5285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5596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 for demo readiness and enterprise readiness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DataPilot Agent 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local-first, governed AI workspace where analysts and engineers ask questions in plain English, generate and run SQL against real catalogued data, and let bounded multi-agent workflows stage pipelines, check quality, and publish analytics — with every risky step gated behind human approval.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0B0E2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don't query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become grounded, dialect-aware, read-only SQL — validated against the real catalog before it ever runs.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4231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0B0E2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3337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39319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catalog asset carries an owner, sensitivity, and freshness SLA. High-risk actions require explicit approval.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4231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0B0E22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3337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9319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Temporal-backed Planner → Specialist agents (SQL, Pipeline, Quality, Policy) execute bounded, explainable tool calls.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26880" y="24231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0B0E2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5548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5554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55480" y="3337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audiences for tools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55480" y="39319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agents call vetted internal tools; external systems call published, rate-limited tools over REST/MCP.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383280" cy="64008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80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Web App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655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workspace — Admin, Analyst, Engineer, Viewer views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069080" y="1325880"/>
            <a:ext cx="3383280" cy="64008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1380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Agents / Systems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60520" y="1655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MCP clients calling published governed tools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635240" y="1325880"/>
            <a:ext cx="4069080" cy="64008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13807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(embedded)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26680" y="16550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guest tokens — no separate login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148840"/>
            <a:ext cx="112014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0370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API  —  Auth · Catalog · SQL Generation · Conversations · Tools · Gateway · Admin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263180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26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Workers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3300984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→ Metadata → SQL Analyst / Analytics / Pipeline / Quality / Policy agents, bounded tool calls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43400" y="2971800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263180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30266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Runtime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34840" y="3300984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tools (sql.generate, schedule.run, pipeline.stage) + governed query-tool gateway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92440" y="2971800"/>
            <a:ext cx="3611880" cy="777240"/>
          </a:xfrm>
          <a:prstGeom prst="roundRect">
            <a:avLst>
              <a:gd name="adj" fmla="val 8235"/>
            </a:avLst>
          </a:prstGeom>
          <a:solidFill>
            <a:srgbClr val="263180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30266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83880" y="3300984"/>
            <a:ext cx="3429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OpenAI-compatible · Claude · Local deterministic mock — per-project default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97764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325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" y="430682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+ local workspace staging schema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88920" y="397764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40325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80360" y="430682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— catalog + glossary embeddings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74920" y="397764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40325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66360" y="430682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+ gateway rate limiting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60920" y="397764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40325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Postgres demo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452360" y="430682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external connectors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646920" y="397764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38360" y="4032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Toolbox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738360" y="4306824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MCP-mode metadata scanning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493776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RBAC (project-scoped roles) · PII detection &amp; masking · audit events · approval gating on risky actions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5440680"/>
            <a:ext cx="1120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Docker Compose locally (api, worker, web, postgres, redis, qdrant, temporal, superset); Kubernetes/OpenShift manifests with non-root containers, securityContext, HPAs, and a worker PodDisruptionBudget for production.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capability pillars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0B0E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1783080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Governance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1783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Connectors, schema scanning, PII masking, owner/sensitivity/freshness metadata, lineage graph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25496" y="146304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0B0E22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08376" y="1691640"/>
            <a:ext cx="1783080" cy="12801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008376" y="1965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SQL Generation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08376" y="2880360"/>
            <a:ext cx="1783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Catalog-grounded, dialect-aware, read-only-enforced SQL with validation and execution preview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48072" y="146304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0B0E2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30952" y="1691640"/>
            <a:ext cx="1783080" cy="12801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5330952" y="1965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30952" y="2880360"/>
            <a:ext cx="1783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Temporal-backed Planner + specialist agents, bounded tool calls, human approval gates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70648" y="146304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0B0E22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53528" y="1691640"/>
            <a:ext cx="1783080" cy="128016"/>
          </a:xfrm>
          <a:prstGeom prst="roundRect">
            <a:avLst>
              <a:gd name="adj" fmla="val 50000"/>
            </a:avLst>
          </a:prstGeom>
          <a:solidFill>
            <a:srgbClr val="8AA6E0"/>
          </a:solidFill>
          <a:ln/>
        </p:spPr>
      </p:sp>
      <p:sp>
        <p:nvSpPr>
          <p:cNvPr id="18" name="Text 16"/>
          <p:cNvSpPr/>
          <p:nvPr/>
        </p:nvSpPr>
        <p:spPr>
          <a:xfrm>
            <a:off x="7653528" y="1965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&amp; Gateway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53528" y="2880360"/>
            <a:ext cx="1783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agent tools plus a rate-limited external REST/MCP gateway for governed query tools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93224" y="146304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0B0E22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76104" y="1691640"/>
            <a:ext cx="1783080" cy="128016"/>
          </a:xfrm>
          <a:prstGeom prst="roundRect">
            <a:avLst>
              <a:gd name="adj" fmla="val 50000"/>
            </a:avLst>
          </a:prstGeom>
          <a:solidFill>
            <a:srgbClr val="C9A6E8"/>
          </a:solidFill>
          <a:ln/>
        </p:spPr>
      </p:sp>
      <p:sp>
        <p:nvSpPr>
          <p:cNvPr id="22" name="Text 20"/>
          <p:cNvSpPr/>
          <p:nvPr/>
        </p:nvSpPr>
        <p:spPr>
          <a:xfrm>
            <a:off x="9976104" y="1965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Analytics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976104" y="2880360"/>
            <a:ext cx="1783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layer, quality rules, and Superset dashboards published straight from a query result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walkthrough covers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workflows captured end-to-end against a running Docker Compose stack, organized around the scenario categories that matter for this review: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0" y="19659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Q&amp;A over the catalog — ask a business question, get grounded results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61320" y="19659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243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 pipeline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262432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 → generated SQL → validation checks → execution preview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61320" y="26243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12–13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826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328269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job run trace, approvals gate on risky steps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61320" y="32826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14–15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941064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410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pipelines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0" y="394106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checks, pipeline staging, lineage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61320" y="39410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16–17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599432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5994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00400" y="45994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agent tools and the external REST/MCP gateway agents call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61320" y="45994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21–22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578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admin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00400" y="52578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Connectors, model providers, RBAC, auth, projects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61320" y="52578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916168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9161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analytics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200400" y="591616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dashboards published from a query 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61320" y="591616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Authentication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00-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local credentials authenticate against the FastAPI /auth endpoints. Role (Admin / Analyst / Engineer / Viewer) drives the landing view and every downstream permission check via require_permission().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 Hub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01-workspace-hu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workspace — no separate URL routes. Grouped, collapsible navigation gives each role a relevant landing area: Files, Catalog, Analysis, SQL, Jobs, Approvals, Quality, Pipelines, Artifacts, Notebooks, Semantic, Tools, Agents, Evaluations, Analytics, Admin.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INGESTION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&amp; Files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02-files-inges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files are staged into the local Postgres workspace (staging schema) — demo data mode is reserved for automated tests, not this walkthrough. Staged tables immediately become catalog assets available to SQL generation.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&amp; Datasets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03-datasets-catal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carries owner, sensitivity, freshness SLA, certification status, and business-level column names/descriptions — the metadata that grounds SQL generation and drives PII masking downstream.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 Business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0811" y="384048"/>
            <a:ext cx="1602029" cy="34747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690811" y="384048"/>
            <a:ext cx="160202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7" name="Image 0" descr="/home/claude/datapilot_demo/screenshots/04-analysis-ask-question-FIX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fresh, single-connector conversation asks a real question against the local workspace and returns grounded results (10 rows, $12,377.54 total) via COUNT/SUM over staging.transactions. See the "Issues Found" section for the cross-connector bug this avoids.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SQL GENERATION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Workspace — Ready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05-sql-workspace-read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Catalog-grounded SQL workspace: pick a source, describe the question in plain English, and the pipeline builds a prompt from the live catalog_text and grounding_prompt_text() before ever calling a model.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SQL GENERATION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Generated, Validated, Executed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0811" y="384048"/>
            <a:ext cx="1602029" cy="34747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690811" y="384048"/>
            <a:ext cx="160202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7" name="Image 0" descr="/home/claude/datapilot_demo/screenshots/06-sql-generation-FIX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pass after switching the default model provider to a healthy one: SQL generated, safety-validated as read-only, executed as a preview, and 10 real rows returned. See "Issues Found" for the root cause and the fix.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AGENT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Jobs &amp; Run Trace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07-jobs-agent-run-tr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Temporal-backed multi-agent run: Planner drafts 3–6 steps from the enabled agent set, each bounded tool call is logged with its evidence and parameter source (heuristic vs. model-filled), and the trace stays fully explainable after the fact.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Approvals Inbox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08-approvals-in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— not the model — decides what needs a human. Any plan step crossing a risk/write boundary pauses here before bound tools execute; reviewers see live evidence, not a placeholder count.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09-quality-ru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checks run against catalogued assets; results feed both the quality dashboard and grounding context for the Quality specialist agent.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PIPELINES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Designer &amp; Lineage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10-pipelines-desig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 and source-asset-driven pipeline generation (not free-text SQL) stages transformations; the lineage graph traces upstream/downstream dependencies across catalog assets.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ARTIFACTS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 Repository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11-artifacts-reposito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SQL, published query tools, and pipeline outputs are tracked as reviewable artifacts, with the same approval-decision path used across the platform.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NOTEBOOKS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12-noteboo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results can be ejected straight into a notebook for further exploration, keeping the generated SQL and its grounding context attached.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SEMANTIC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Relationship Graph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13-semantic-lay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hand-rolled node-link diagram over GET /semantic/graph: governed joins render solid, column-name-inferred suggestions render dashed, with a toggle and hover highlighting.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TOOL REGISTRY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Agent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14-tool-registry-inter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ToolDefinition registry agents call directly — sql.generate, file.profile, quality.run, pipeline.stage, schedule.run and more, each with a published contract, risk level, and approval requirement.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TOOL REGISTRY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Gateway — Agent Call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15-tool-registry-external-gatew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Published, parameterized QueryTools exposed over REST + MCP for external agents/systems — rate-limited per client, PII-masked, and scoped to a project. This is the surface other agent systems call into DataPilot through.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Registry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16-agents-regist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publishable agent definitions — Planner, Metadata, SQL Analyst, Analytics, Pipeline, Quality, Policy, Troubleshooter — each bindable to internal tools or governed query tools.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EVALUATIONS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17-evaluati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suites score agents against defined scenarios; results feed each agent's scorecard, distinct from live-run quality (a documented, still-open gap — see Spec Status).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Analytics (Superset)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6608" y="1188720"/>
            <a:ext cx="10698480" cy="4481726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0E22">
                <a:alpha val="18000"/>
              </a:srgbClr>
            </a:outerShdw>
          </a:effectLst>
        </p:spPr>
      </p:sp>
      <p:pic>
        <p:nvPicPr>
          <p:cNvPr id="5" name="Image 0" descr="/home/claude/datapilot_demo/screenshots/18-superset-embedd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34440"/>
            <a:ext cx="10607040" cy="4390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2589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query result opens straight into its own Superset dashboard via a short-lived guest token — no separate login, and no collision with the project's primary dashboard (a real bug fixed this session, per the code-verified status tracker).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ADMINISTRATION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Console — Governance Surface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5148" y="1325880"/>
            <a:ext cx="361188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0B0E22">
                <a:alpha val="14000"/>
              </a:srgbClr>
            </a:outerShdw>
          </a:effectLst>
        </p:spPr>
      </p:sp>
      <p:pic>
        <p:nvPicPr>
          <p:cNvPr id="5" name="Image 0" descr="/home/claude/datapilot_demo/screenshots/19-admin-connecto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00" y="1399032"/>
            <a:ext cx="3465576" cy="14344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8300" y="3209544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9908" y="1325880"/>
            <a:ext cx="361188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0B0E22">
                <a:alpha val="14000"/>
              </a:srgbClr>
            </a:outerShdw>
          </a:effectLst>
        </p:spPr>
      </p:sp>
      <p:pic>
        <p:nvPicPr>
          <p:cNvPr id="8" name="Image 1" descr="/home/claude/datapilot_demo/screenshots/20-admin-model-provider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060" y="1399032"/>
            <a:ext cx="3465576" cy="14344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3060" y="3209544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084668" y="1325880"/>
            <a:ext cx="361188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0B0E22">
                <a:alpha val="14000"/>
              </a:srgbClr>
            </a:outerShdw>
          </a:effectLst>
        </p:spPr>
      </p:sp>
      <p:pic>
        <p:nvPicPr>
          <p:cNvPr id="11" name="Image 2" descr="/home/claude/datapilot_demo/screenshots/21-admin-governan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820" y="1399032"/>
            <a:ext cx="3465576" cy="14344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57820" y="3209544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95148" y="3794760"/>
            <a:ext cx="361188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0B0E22">
                <a:alpha val="14000"/>
              </a:srgbClr>
            </a:outerShdw>
          </a:effectLst>
        </p:spPr>
      </p:sp>
      <p:pic>
        <p:nvPicPr>
          <p:cNvPr id="14" name="Image 3" descr="/home/claude/datapilot_demo/screenshots/22-admin-users-persona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00" y="3867912"/>
            <a:ext cx="3465576" cy="14344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8300" y="5678424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Personas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289908" y="3794760"/>
            <a:ext cx="361188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0B0E22">
                <a:alpha val="14000"/>
              </a:srgbClr>
            </a:outerShdw>
          </a:effectLst>
        </p:spPr>
      </p:sp>
      <p:pic>
        <p:nvPicPr>
          <p:cNvPr id="17" name="Image 4" descr="/home/claude/datapilot_demo/screenshots/23-admin-authentication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3060" y="3867912"/>
            <a:ext cx="3465576" cy="14344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63060" y="5678424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8084668" y="3794760"/>
            <a:ext cx="361188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0B0E22">
                <a:alpha val="14000"/>
              </a:srgbClr>
            </a:outerShdw>
          </a:effectLst>
        </p:spPr>
      </p:sp>
      <p:pic>
        <p:nvPicPr>
          <p:cNvPr id="20" name="Image 5" descr="/home/claude/datapilot_demo/screenshots/24-admin-projects-membership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7820" y="3867912"/>
            <a:ext cx="3465576" cy="143441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157820" y="5678424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Memberships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 THIS PASS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blocking bugs, reproduced live before recapturing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review instruction to fix before recapturing: both bugs below were reproduced against the running stack (not assumed from docs), then addressed with real sample data before any "after" screenshot was taken.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0B0E2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84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 — 400 Bad Request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26280" y="210312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SQL failed outright: "Client error '400 Bad Request' for url '.../models/gemini-3.6-flash:generateContent'", surfaced as a 422 from /sql/generate.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project's default model provider, "Gemini 3.6 Flash", pointed at a model id Google's API rejects. GEMINI_API_KEY was valid — confirmed by the fact that "Gemini 3.5 Flash" (same key) worked.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/ STATUS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51206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the project's default provider to "Gemini 3.5 Flash" via Admin → Model Providers (in-app config, no code change). Re-verified end-to-end: SQL generated, validated read-only, executed — 10 real rows returned.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8745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0B0E22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084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"relation activity.transactions does not exist"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149840" y="210312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1014984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260604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6520" y="28346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follow-up analysis question failed at execution, referencing a table (activity.transactions) that was never part of the local workspace's catalog.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6520" y="356616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46520" y="379476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activity.transactions is a synthetic catalog fixture seeded for the "Banking demo warehouse" connector (seed.py), not the local workspace. Theorized mechanism: prior-turn conversation_history text is passed verbatim into the SQL-generation prompt, and the model reused a stale table name from an earlier connector without re-validating it against the current turn's catalog.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489204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/ STATUS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51206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around for this demo with a fresh, single-connector conversation — verified clean end-to-end. The underlying cross-connector history-bleed is a real gap: prompt construction in sql.py / conversations.py needs to strip or scope conversation_history to the active connector. Logged for engineering follow-up, not yet code-patched.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Product Workflows — Mostly Done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docs/IMPLEMENTATION_STATUS_MATRIX.md — verified against the actual code, not the commit messages describing it.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509778"/>
          </a:xfrm>
          <a:prstGeom prst="roundRect">
            <a:avLst>
              <a:gd name="adj" fmla="val 8969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89166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9166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83080" y="1783080"/>
            <a:ext cx="379476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connectors, PII masking, lineage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0" y="1783080"/>
            <a:ext cx="580644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lineage traversal and PII detection/masking both re-verified against real code this pass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66010"/>
            <a:ext cx="11109960" cy="509778"/>
          </a:xfrm>
          <a:prstGeom prst="roundRect">
            <a:avLst>
              <a:gd name="adj" fmla="val 8969"/>
            </a:avLst>
          </a:prstGeom>
          <a:solidFill>
            <a:srgbClr val="F4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47459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47459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83080" y="2366010"/>
            <a:ext cx="379476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SQL generation + validation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0" y="2366010"/>
            <a:ext cx="580644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Catalog-grounded prompt, read-only safety check, local execution pre-validation, response caching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48940"/>
            <a:ext cx="11109960" cy="509778"/>
          </a:xfrm>
          <a:prstGeom prst="roundRect">
            <a:avLst>
              <a:gd name="adj" fmla="val 8969"/>
            </a:avLst>
          </a:prstGeom>
          <a:solidFill>
            <a:srgbClr val="F4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305752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05752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783080" y="2948940"/>
            <a:ext cx="379476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(Temporal)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0" y="2948940"/>
            <a:ext cx="580644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+ specialist agents, bounded tool calls, deterministic policy authority over generated plans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31870"/>
            <a:ext cx="11109960" cy="509778"/>
          </a:xfrm>
          <a:prstGeom prst="roundRect">
            <a:avLst>
              <a:gd name="adj" fmla="val 8969"/>
            </a:avLst>
          </a:prstGeom>
          <a:solidFill>
            <a:srgbClr val="F4F7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364045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64045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83080" y="3531870"/>
            <a:ext cx="379476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↔ governed SQL tool binding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0" y="3531870"/>
            <a:ext cx="580644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agents can now call published QueryTools, not just the internal tool registry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1109960" cy="509778"/>
          </a:xfrm>
          <a:prstGeom prst="roundRect">
            <a:avLst>
              <a:gd name="adj" fmla="val 8969"/>
            </a:avLst>
          </a:prstGeom>
          <a:solidFill>
            <a:srgbClr val="F4F7FC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" y="422338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422338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783080" y="4114800"/>
            <a:ext cx="379476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semantic embeddings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0" y="4114800"/>
            <a:ext cx="580644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ModelProvider.embedding_model now actually drives Gemini/OpenAI embeddings, with dimension-safe reindexing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697730"/>
            <a:ext cx="11109960" cy="509778"/>
          </a:xfrm>
          <a:prstGeom prst="roundRect">
            <a:avLst>
              <a:gd name="adj" fmla="val 8969"/>
            </a:avLst>
          </a:prstGeom>
          <a:solidFill>
            <a:srgbClr val="F4F7FC"/>
          </a:solidFill>
          <a:ln/>
        </p:spPr>
      </p:sp>
      <p:sp>
        <p:nvSpPr>
          <p:cNvPr id="31" name="Shape 29"/>
          <p:cNvSpPr/>
          <p:nvPr/>
        </p:nvSpPr>
        <p:spPr>
          <a:xfrm>
            <a:off x="713232" y="480631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480631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83080" y="4697730"/>
            <a:ext cx="379476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gateway rate limiting + concurrency guard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0" y="4697730"/>
            <a:ext cx="580644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limiter; per-connector BoundedSemaphore protects source databases from connection storms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280660"/>
            <a:ext cx="11109960" cy="509778"/>
          </a:xfrm>
          <a:prstGeom prst="roundRect">
            <a:avLst>
              <a:gd name="adj" fmla="val 8969"/>
            </a:avLst>
          </a:prstGeom>
          <a:solidFill>
            <a:srgbClr val="F4F7FC"/>
          </a:solidFill>
          <a:ln/>
        </p:spPr>
      </p:sp>
      <p:sp>
        <p:nvSpPr>
          <p:cNvPr id="36" name="Shape 34"/>
          <p:cNvSpPr/>
          <p:nvPr/>
        </p:nvSpPr>
        <p:spPr>
          <a:xfrm>
            <a:off x="713232" y="538924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" y="538924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783080" y="5280660"/>
            <a:ext cx="379476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dashboard-per-query isolation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0" y="5280660"/>
            <a:ext cx="580644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real collision where publishing a query overwrote the project's main dashboard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863590"/>
            <a:ext cx="11109960" cy="509778"/>
          </a:xfrm>
          <a:prstGeom prst="roundRect">
            <a:avLst>
              <a:gd name="adj" fmla="val 8969"/>
            </a:avLst>
          </a:prstGeom>
          <a:solidFill>
            <a:srgbClr val="F4F7FC"/>
          </a:solidFill>
          <a:ln/>
        </p:spPr>
      </p:sp>
      <p:sp>
        <p:nvSpPr>
          <p:cNvPr id="41" name="Shape 39"/>
          <p:cNvSpPr/>
          <p:nvPr/>
        </p:nvSpPr>
        <p:spPr>
          <a:xfrm>
            <a:off x="713232" y="597217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597217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783080" y="5863590"/>
            <a:ext cx="379476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SQL-generation catalog relevance (large projects)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669280" y="5863590"/>
            <a:ext cx="580644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for &gt;40-table catalogs this session — grounding-prioritized ordering now feeds the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— Real but Incomplete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645305"/>
          </a:xfrm>
          <a:prstGeom prst="roundRect">
            <a:avLst>
              <a:gd name="adj" fmla="val 7085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593669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93669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783080" y="1417320"/>
            <a:ext cx="379476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RBAC enforcement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0" y="1417320"/>
            <a:ext cx="580644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via require_permission(), but one router (artifacts.py approval endpoint) still used a raw role check — closed this pass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35777"/>
            <a:ext cx="11109960" cy="645305"/>
          </a:xfrm>
          <a:prstGeom prst="roundRect">
            <a:avLst>
              <a:gd name="adj" fmla="val 7085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31212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31212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83080" y="2135777"/>
            <a:ext cx="379476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OpenShift production hardening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0" y="2135777"/>
            <a:ext cx="580644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containers, securityContext, HPAs, PDB shipped; NetworkPolicy, secrets-manager, backup/restore/DR drills still open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54234"/>
            <a:ext cx="11109960" cy="645305"/>
          </a:xfrm>
          <a:prstGeom prst="roundRect">
            <a:avLst>
              <a:gd name="adj" fmla="val 7085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030583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030583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83080" y="2854234"/>
            <a:ext cx="379476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Async/Temporal scan for large sources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0" y="2854234"/>
            <a:ext cx="580644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code — not yet confirmed exercised against a genuinely large schema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72691"/>
            <a:ext cx="11109960" cy="645305"/>
          </a:xfrm>
          <a:prstGeom prst="roundRect">
            <a:avLst>
              <a:gd name="adj" fmla="val 7085"/>
            </a:avLst>
          </a:prstGeom>
          <a:solidFill>
            <a:srgbClr val="F4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7490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7490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83080" y="3572691"/>
            <a:ext cx="379476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for newer endpoints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0" y="3572691"/>
            <a:ext cx="580644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 file added, but has a real isolation bug: passes only by import-order accident, needs its own DATABASE_URL setup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291149"/>
            <a:ext cx="11109960" cy="645305"/>
          </a:xfrm>
          <a:prstGeom prst="roundRect">
            <a:avLst>
              <a:gd name="adj" fmla="val 7085"/>
            </a:avLst>
          </a:prstGeom>
          <a:solidFill>
            <a:srgbClr val="F4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467497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467497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783080" y="4291149"/>
            <a:ext cx="379476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marketplace UI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0" y="4291149"/>
            <a:ext cx="580644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search/filter by tag / line-of-business / owner in the admin tool registry yet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009606"/>
            <a:ext cx="11109960" cy="645305"/>
          </a:xfrm>
          <a:prstGeom prst="roundRect">
            <a:avLst>
              <a:gd name="adj" fmla="val 7085"/>
            </a:avLst>
          </a:prstGeom>
          <a:solidFill>
            <a:srgbClr val="F4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" y="518595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518595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783080" y="5009606"/>
            <a:ext cx="379476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failure handling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69280" y="5009606"/>
            <a:ext cx="580644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tool call logs and moves on — no reflection/replan step that retries with adjusted parameters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728063"/>
            <a:ext cx="11109960" cy="645305"/>
          </a:xfrm>
          <a:prstGeom prst="roundRect">
            <a:avLst>
              <a:gd name="adj" fmla="val 7085"/>
            </a:avLst>
          </a:prstGeom>
          <a:solidFill>
            <a:srgbClr val="F4F7FC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" y="5904411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5904411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783080" y="5728063"/>
            <a:ext cx="379476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0" y="5728063"/>
            <a:ext cx="5806440" cy="64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Architecturally sound, but no load test has been run against the documented Postgres connection-pool math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Gaps — Not Yet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555498"/>
          </a:xfrm>
          <a:prstGeom prst="roundRect">
            <a:avLst>
              <a:gd name="adj" fmla="val 8230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54876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4876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783080" y="1417320"/>
            <a:ext cx="3794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0" y="1417320"/>
            <a:ext cx="580644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docs/videos/ still contains only a placeholder — not recorded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45970"/>
            <a:ext cx="11109960" cy="555498"/>
          </a:xfrm>
          <a:prstGeom prst="roundRect">
            <a:avLst>
              <a:gd name="adj" fmla="val 8230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17741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17741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83080" y="2045970"/>
            <a:ext cx="3794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verification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0" y="2045970"/>
            <a:ext cx="580644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unconfirmed-on-disk before this session — this session's captures directly close that gap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74620"/>
            <a:ext cx="11109960" cy="555498"/>
          </a:xfrm>
          <a:prstGeom prst="roundRect">
            <a:avLst>
              <a:gd name="adj" fmla="val 8230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80606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80606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83080" y="2674620"/>
            <a:ext cx="3794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 Server / Oracle / Teradata / BigQuery certification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0" y="2674620"/>
            <a:ext cx="580644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unblocked via a self-contained Docker demo container; the other three remain fully open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03270"/>
            <a:ext cx="11109960" cy="555498"/>
          </a:xfrm>
          <a:prstGeom prst="roundRect">
            <a:avLst>
              <a:gd name="adj" fmla="val 8230"/>
            </a:avLst>
          </a:prstGeom>
          <a:solidFill>
            <a:srgbClr val="F4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43471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43471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83080" y="3303270"/>
            <a:ext cx="3794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PingFederate end-to-end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0" y="3303270"/>
            <a:ext cx="580644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config contract exists; the full OIDC flow is not wired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11109960" cy="555498"/>
          </a:xfrm>
          <a:prstGeom prst="roundRect">
            <a:avLst>
              <a:gd name="adj" fmla="val 8230"/>
            </a:avLst>
          </a:prstGeom>
          <a:solidFill>
            <a:srgbClr val="F4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06336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06336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783080" y="3931920"/>
            <a:ext cx="3794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(threat model, pen test, dependency scan)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0" y="3931920"/>
            <a:ext cx="580644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performed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560570"/>
            <a:ext cx="11109960" cy="555498"/>
          </a:xfrm>
          <a:prstGeom prst="roundRect">
            <a:avLst>
              <a:gd name="adj" fmla="val 8230"/>
            </a:avLst>
          </a:prstGeom>
          <a:solidFill>
            <a:srgbClr val="F4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" y="469201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69201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783080" y="4560570"/>
            <a:ext cx="3794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Cross-connector conversation-history bleed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69280" y="4560570"/>
            <a:ext cx="580644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Root-caused this session (see Issues Found) — not yet code-patched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189220"/>
            <a:ext cx="11109960" cy="555498"/>
          </a:xfrm>
          <a:prstGeom prst="roundRect">
            <a:avLst>
              <a:gd name="adj" fmla="val 8230"/>
            </a:avLst>
          </a:prstGeom>
          <a:solidFill>
            <a:srgbClr val="F4F7FC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" y="532066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532066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783080" y="5189220"/>
            <a:ext cx="3794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"multiple data models per project" grouping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0" y="5189220"/>
            <a:ext cx="580644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not to exist — flat catalog + free-text tags only, by design so far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5817870"/>
            <a:ext cx="11109960" cy="555498"/>
          </a:xfrm>
          <a:prstGeom prst="roundRect">
            <a:avLst>
              <a:gd name="adj" fmla="val 8230"/>
            </a:avLst>
          </a:prstGeom>
          <a:solidFill>
            <a:srgbClr val="F4F7FC"/>
          </a:solidFill>
          <a:ln/>
        </p:spPr>
      </p:sp>
      <p:sp>
        <p:nvSpPr>
          <p:cNvPr id="40" name="Shape 38"/>
          <p:cNvSpPr/>
          <p:nvPr/>
        </p:nvSpPr>
        <p:spPr>
          <a:xfrm>
            <a:off x="713232" y="5949315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5949315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783080" y="5817870"/>
            <a:ext cx="3794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live-run quality judging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669280" y="5817870"/>
            <a:ext cx="580644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 score suite pass rate, not an LLM-as-judge score of a completed live run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Priority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743200" cy="4892040"/>
          </a:xfrm>
          <a:prstGeom prst="roundRect">
            <a:avLst>
              <a:gd name="adj" fmla="val 2667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645920"/>
            <a:ext cx="2286000" cy="11887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7452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Demo readiness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60604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Record the actual demo video (still a placeholder)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34290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Screenshots now verified on disk — this deck closes that gap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425196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 one live SQL Server scan end-to-end against the demo container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0712" y="1417320"/>
            <a:ext cx="2743200" cy="4892040"/>
          </a:xfrm>
          <a:prstGeom prst="roundRect">
            <a:avLst>
              <a:gd name="adj" fmla="val 2667"/>
            </a:avLst>
          </a:prstGeom>
          <a:solidFill>
            <a:srgbClr val="F4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1645920"/>
            <a:ext cx="2286000" cy="118872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87452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Enterprise credibility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60604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Complete SSO / PingFederate end-to-end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34290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Certify live connectors beyond SQL Server Express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425196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 a real security review / penetration test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507492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a NetworkPolicy and a backup/restore drill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18504" y="1417320"/>
            <a:ext cx="2743200" cy="4892040"/>
          </a:xfrm>
          <a:prstGeom prst="roundRect">
            <a:avLst>
              <a:gd name="adj" fmla="val 2667"/>
            </a:avLst>
          </a:prstGeom>
          <a:solidFill>
            <a:srgbClr val="F4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9672" y="1645920"/>
            <a:ext cx="2286000" cy="1188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187452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Correctness &amp; trust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9672" y="260604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Patch the cross-connector conversation-history bleed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19672" y="34290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Migrate the last raw-role-check router (done this pass)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19672" y="425196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Fix the new test file's DB-isolation bug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19672" y="507492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automated tests for PII masking specifically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26296" y="1417320"/>
            <a:ext cx="2743200" cy="4892040"/>
          </a:xfrm>
          <a:prstGeom prst="roundRect">
            <a:avLst>
              <a:gd name="adj" fmla="val 2667"/>
            </a:avLst>
          </a:prstGeom>
          <a:solidFill>
            <a:srgbClr val="F4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9427464" y="1645920"/>
            <a:ext cx="2286000" cy="118872"/>
          </a:xfrm>
          <a:prstGeom prst="roundRect">
            <a:avLst>
              <a:gd name="adj" fmla="val 50000"/>
            </a:avLst>
          </a:prstGeom>
          <a:solidFill>
            <a:srgbClr val="8AA6E0"/>
          </a:solidFill>
          <a:ln/>
        </p:spPr>
      </p:sp>
      <p:sp>
        <p:nvSpPr>
          <p:cNvPr id="26" name="Text 24"/>
          <p:cNvSpPr/>
          <p:nvPr/>
        </p:nvSpPr>
        <p:spPr>
          <a:xfrm>
            <a:off x="9427464" y="187452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Scale &amp; usability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27464" y="260604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Load-test the documented Postgres connection-pool math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27464" y="34290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search/filter to the tool registry admin UI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427464" y="425196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Consider a Temporal-queue-depth autoscaling metric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|  End-to-End Demo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840480" cy="384048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060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in this deck are a first pass captured live against a running stack — please verify and refresh them as fixes land, especially the two flagged bugs.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  ·  Governed AI Data Engineering Workspace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DataPilot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DataPilot Agent OS — Demo &amp; Spec Status</dc:title>
  <dc:subject>PptxGenJS Presentation</dc:subject>
  <dc:creator>DataPilot Agent OS</dc:creator>
  <cp:lastModifiedBy>DataPilot Agent OS</cp:lastModifiedBy>
  <cp:revision>1</cp:revision>
  <dcterms:created xsi:type="dcterms:W3CDTF">2026-08-14T02:56:04Z</dcterms:created>
  <dcterms:modified xsi:type="dcterms:W3CDTF">2026-08-14T02:56:04Z</dcterms:modified>
</cp:coreProperties>
</file>